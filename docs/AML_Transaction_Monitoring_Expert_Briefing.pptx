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distinguishes real transaction monitoring operating patterns from the synthetic SAML-D class experiment. The cover image is generated abstract artwork, not a bank system or transaction record.
Sources: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come from the saved outputs of the full-data notebook and class report. AP is average precision over the ranking. Test labels are synthetic and are not confirmed criminal events or SAR outcomes.
Sources:
https://github.com/codewithdaniel1/Explainable-AML-Transaction-Monitoring
https://github.com/BOztasUK/Anti_Money_Laundering_Transaction_Data_SAML-D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patterns are illustrative operating designs, not a universal bank maturity sequence. Pattern 4 applies a triage model after alert generation. The class MVP is shown separately because its classifiers score every transaction using fused rule, anomaly and network features, rather than only ranking pre-existing alerts. FFIEC describes combinations of monitoring methods and evaluation of unusual activity from all identification methods. The 2018 interagency statement discusses testing innovative approaches in conjunction with existing AML processes.
Sources:
https://bsaaml.ffiec.gov/manual/AssessingComplianceWithBSARegulatoryRequirements/04
https://bsaaml.ffiec.gov/manual/DevelopingConclusionsAndFinalizingTheExam/01
https://www.fincen.gov/system/files/2018-12/Joint%20Statement%20on%20Innovation%20Statement%20%28Final%2011-30-18%29_508.pdf
https://www.fatf-gafi.org/en/publications/Digitaltransformation/Digital-transformation.html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M&amp;T Bank described selecting transactions through rules and having employees investigate them in its 2006 shareholder letter. This is a historical example and does not establish M&amp;T’s current system. Barclays public hiring material refers to rules and models but does not establish which operating pattern describes its current production architecture. FFIEC describes manual and automated monitoring, managing alerts, investigation, evaluation and escalation.
Sources:
https://newsroom.mtb.com/2006-annual-report-message-to-shareholders
https://barclays.talent-community.com/projects/surveillance-transaction-monitoring-data-scientist/14839
https://bsaaml.ffiec.gov/manual/AssessingComplianceWithBSARegulatoryRequirements/04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 One described applying machine learning to suspicious activity monitoring beginning in August 2020. Its random forest scores rule alerts so investigators can prioritize review. The recall ceiling follows from candidate gating: if the model scores only rule-alerted transactions, its true-positive set is a subset of rule true positives. Some banks maintain other coverage mechanisms.
Sources:
https://www.capitalone.com/tech/machine-learning/how-machine-learning-can-help-fight-money-laundering/
https://bsaaml.ffiec.gov/manual/AssessingComplianceWithBSARegulatoryRequirements/04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ING’s 2019 annual report describes live anomaly detection for correspondent banking payment flows alongside its scenario-based transaction monitoring program. It does not disclose the exact deduplication design shown. OCBC’s 2017 announcement explicitly planned to run anomaly detection in parallel with its existing monitoring system, but the source described a proof of concept and future implementation, not completed production deployment. The 2018 joint agency statement discusses AI pilots that may reveal activity missed by existing processes.
Sources:
https://ing.com/binaries/content/assets/documents/files/2019_annual_report_ing_bank_n.v.pdf
https://www.ocbc.com/group/media/release/2017/ocbc-bank-ai-and-machine-learning-to-combat-financial-crime.page
https://www.fincen.gov/system/files/2018-12/Joint%20Statement%20on%20Innovation%20Statement%20%28Final%2011-30-18%29_508.pdf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4 is an illustrative alert-triage architecture: detection systems first produce alerts, then a separate ML score prioritizes those alerts for investigators. UOB and Deloitte publicly describe a machine-learning solution for AML transaction-monitoring alert prioritization, including risk scoring of alerts and low-probability auto-closure. This supports the triage step, but public materials do not establish that UOB uses the exact two-source rules-plus-independent-detector topology drawn here. HKMA’s anonymized Bank B case study also describes an in-house model that prioritizes and auto-clears TM alerts using historical review data and contextual customer/account features. The next slide is different: the class MVP scores the full transaction population using fused features, then creates a queue from the chosen model threshold.
Sources:
https://www.uobgroup.com/assets/web-resources/techecosystem/fintech/pdf/ai-in-combating-money-laundering-and-terrorist-financing.pdf
https://www.hkma.gov.hk/media/eng/doc/key-functions/banking-stability/aml-cft/AMLCFT_Regtech-Case_Studies_and_Insights_Volume_2.pdf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MVP differs from Pattern 4: the three classifiers score every transaction row using fused rule, anomaly and network features; Pattern 4 scores alerts already generated by detection systems. Before modeling, the notebook profiles SAML-D, constructs past-only features, and makes a chronological train/validation/test split. Rule flags, an Isolation Forest score, and network features join the base model inputs. The three classifiers use those shared inputs and score every validation and test row. Time-fold average precision selects XGBoost, and the validation-selected threshold produces 1,708 later test alerts in the analyst review queue. Standalone track alert unions are diagnostic only; they do not gate classifier scoring or become the chosen queue. This is feature fusion rather than formal stacked generalization. True stacking would require out-of-fold or otherwise leakage-safe first-stage model predictions for meta-model training.
Sources: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row counts and dates are from the saved notebook outputs in the repository. The target is Is_laundering, a generated label. It is not a confirmed investigation outcome.
Sources:
https://github.com/BOztasUK/Anti_Money_Laundering_Transaction_Data_SAML-D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creates prior counts and averages before the chronological split while excluding current and same-second rows from their own history. Account IDs establish relationships but are dropped before model fitting. Laundering_type is held out and used only after scoring for an audit.
Sources: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fixed rules are illustrative, not Actimize or Mantas. Two Isolation Forests fit on the earliest 10 percent of training days without labels. Alert-focused track designs were compared using validation labels, while final score cutoffs use validation score percentiles without labels. All test counts are from the notebook.
Sources: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fold AP values were logistic regression 0.1401, XGBoost 0.9127, EBM 0.4636. Validation thresholds maximize F1 separately for each model. The test is used for final evaluation, not threshold selection. Track redesign used validation labels and was then checked on the later test.
Sources: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models use the same input feature set and their own validation-selected operating thresholds. XGBoost wins by mean AP on three expanding training-time folds. The displayed metrics are on the later test. Labels refer to synthetic SAML-D Is_laundering outcomes.
Sources: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numbers are from CLASS_REPORT.md at Git commit 7c4ec7d, the initial full-data SAML-D XGBoost run. Current numbers are from the latest CLASS_REPORT.md. Both use the same 1,412,824 later test rows and 1,683 synthetic positive labels, with a validation-selected threshold for each run. Earlier run: AP 0.8959, precision 93.8%, recall 84.1%, F1 0.8872, FPR 0.0066%, 1,509 alerts, 1,416 caught, 93 false alerts, 267 missed. Current run: AP 0.9900, precision 96.6%, recall 98.0%, F1 0.9732, FPR 0.0041%, 1,708 alerts, 1,650 caught, 58 false alerts, 33 missed. The historical runs differ in feature/model pipeline. This comparison does not isolate the causal contribution of track signals; a controlled ablation is required for that.
Sources:
https://github.com/codewithdaniel1/Explainable-AML-Transaction-Monitoring
https://github.com/codewithdaniel1/Explainable-AML-Transaction-Monitoring/commit/7c4ec7d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bars and labels are editable PowerPoint objects. Percent values and all source counts are from the notebook. Precision and recall are evaluated at validation-selected model thresholds.
Sources: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revised standalone Isolation Forest and network tracks improve precision, recall and false-positive rate over prior alert designs while XGBoost inputs remain fixed. Track alerts overlap, so their counts cannot be added to obtain a deduplicated union. Their union contains only track alerts and excludes XGBoost.
Sources: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union arithmetic is 72,795 total alerts, 1,661 caught and 71,134 false, versus XGBoost 1,708 total, 1,650 caught and 58 false. Additional false alerts = 71,134 minus 58 = 71,076. Additional true positives = 11. The 72,328 three-track union is distinct from the 72,795 combined queue. This is diagnostic analysis, not a recommendation to deploy the union.
Sources:
https://github.com/codewithdaniel1/Explainable-AML-Transaction-Monitoring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contains all three explanation types, including built-in InterpretML EBM visuals and Tree SHAP from XGBoost. Model explanations describe score formation, not causality or suspicious activity determination. FFIEC describes analyst evaluation and investigation of unusual activity.
Sources:
https://github.com/codewithdaniel1/Explainable-AML-Transaction-Monitoring
https://bsaaml.ffiec.gov/manual/AssessingComplianceWithBSARegulatoryRequirements/04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data are synthetic, the label is generated, and only one later test period is evaluated. The project does not implement analyst review, case disposition, feedback or production controls. FFIEC expects risk-based programs and adequate alert management; current interagency model risk guidance describes validation and monitoring principles. No universal AML precision, recall, F1 or FPR cutoff is mandated.
Sources:
https://bsaaml.ffiec.gov/manual/AssessingComplianceWithBSARegulatoryRequirements/04
https://bsaaml.ffiec.gov/manual/DevelopingConclusionsAndFinalizingTheExam/01
https://www.federalreserve.gov/frrs/guidance/supervisory-guidance-on-model-risk-management.htm
https://www.fincen.gov/system/files/2018-12/Joint%20Statement%20on%20Innovation%20Statement%20%28Final%2011-30-18%29_508.pdf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lists the sources used in the presentation. Full URLs are included in these speaker notes.
Project analysis: https://github.com/codewithdaniel1/Explainable-AML-Transaction-Monitoring
SAML-D: https://github.com/BOztasUK/Anti_Money_Laundering_Transaction_Data_SAML-D
FFIEC: https://bsaaml.ffiec.gov/manual/AssessingComplianceWithBSARegulatoryRequirements/04
FinCEN + agencies: https://www.fincen.gov/system/files/2018-12/Joint%20Statement%20on%20Innovation%20Statement%20%28Final%2011-30-18%29_508.pdf
FATF: https://www.fatf-gafi.org/en/publications/Digitaltransformation/Digital-transformation.html
Federal Reserve: https://www.federalreserve.gov/frrs/guidance/supervisory-guidance-on-model-risk-management.htm
BIS Innovation Hub: https://www.bis.org/publications/project-aurora-power-data-technology-and-collaboration-combat-money-laundering-across-institutions-and-borders
Sources:
https://github.com/codewithdaniel1/Explainable-AML-Transaction-Monitoring
https://github.com/BOztasUK/Anti_Money_Laundering_Transaction_Data_SAML-D
https://bsaaml.ffiec.gov/manual/AssessingComplianceWithBSARegulatoryRequirements/04
https://www.fincen.gov/system/files/2018-12/Joint%20Statement%20on%20Innovation%20Statement%20%28Final%2011-30-18%29_508.pdf
https://www.fatf-gafi.org/en/publications/Digitaltransformation/Digital-transformation.html
https://www.federalreserve.gov/frrs/guidance/supervisory-guidance-on-model-risk-management.htm
https://www.bis.org/publications/project-aurora-power-data-technology-and-collaboration-combat-money-laundering-across-institutions-and-borders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danielpeng/projects/Explainable-AML-Transaction-Monitoring/docs/assets/aml_transaction_network_cov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85800" y="1435608"/>
            <a:ext cx="6766560" cy="685800"/>
          </a:xfrm>
          <a:prstGeom prst="rect">
            <a:avLst/>
          </a:prstGeom>
          <a:noFill/>
          <a:ln/>
        </p:spPr>
        <p:txBody>
          <a:bodyPr wrap="square" lIns="0" tIns="0" rIns="0" bIns="0" rtlCol="0" anchor="ctr">
            <a:normAutofit/>
          </a:bodyPr>
          <a:lstStyle/>
          <a:p>
            <a:pPr indent="0" marL="0">
              <a:buNone/>
            </a:pPr>
            <a:r>
              <a:rPr lang="en-US" sz="3700" b="1" dirty="0">
                <a:solidFill>
                  <a:srgbClr val="FFFFFF"/>
                </a:solidFill>
                <a:latin typeface="Avenir Next" pitchFamily="34" charset="0"/>
                <a:ea typeface="Avenir Next" pitchFamily="34" charset="-122"/>
                <a:cs typeface="Avenir Next" pitchFamily="34" charset="-120"/>
              </a:rPr>
              <a:t>Explainable AML</a:t>
            </a:r>
            <a:endParaRPr lang="en-US" sz="3700" dirty="0"/>
          </a:p>
        </p:txBody>
      </p:sp>
      <p:sp>
        <p:nvSpPr>
          <p:cNvPr id="4" name="Text 1"/>
          <p:cNvSpPr/>
          <p:nvPr/>
        </p:nvSpPr>
        <p:spPr>
          <a:xfrm>
            <a:off x="685800" y="2185416"/>
            <a:ext cx="7132320" cy="685800"/>
          </a:xfrm>
          <a:prstGeom prst="rect">
            <a:avLst/>
          </a:prstGeom>
          <a:noFill/>
          <a:ln/>
        </p:spPr>
        <p:txBody>
          <a:bodyPr wrap="square" lIns="0" tIns="0" rIns="0" bIns="0" rtlCol="0" anchor="ctr">
            <a:normAutofit/>
          </a:bodyPr>
          <a:lstStyle/>
          <a:p>
            <a:pPr indent="0" marL="0">
              <a:buNone/>
            </a:pPr>
            <a:r>
              <a:rPr lang="en-US" sz="3700" b="1" dirty="0">
                <a:solidFill>
                  <a:srgbClr val="FFFFFF"/>
                </a:solidFill>
                <a:latin typeface="Avenir Next" pitchFamily="34" charset="0"/>
                <a:ea typeface="Avenir Next" pitchFamily="34" charset="-122"/>
                <a:cs typeface="Avenir Next" pitchFamily="34" charset="-120"/>
              </a:rPr>
              <a:t>Transaction Monitoring</a:t>
            </a:r>
            <a:endParaRPr lang="en-US" sz="3700" dirty="0"/>
          </a:p>
        </p:txBody>
      </p:sp>
      <p:sp>
        <p:nvSpPr>
          <p:cNvPr id="5" name="Shape 2"/>
          <p:cNvSpPr/>
          <p:nvPr/>
        </p:nvSpPr>
        <p:spPr>
          <a:xfrm>
            <a:off x="713232" y="3368192"/>
            <a:ext cx="4590288" cy="30175"/>
          </a:xfrm>
          <a:prstGeom prst="rect">
            <a:avLst/>
          </a:prstGeom>
          <a:solidFill>
            <a:srgbClr val="09A8B5"/>
          </a:solidFill>
          <a:ln w="12700">
            <a:solidFill>
              <a:srgbClr val="09A8B5">
                <a:alpha val="0"/>
              </a:srgbClr>
            </a:solidFill>
            <a:prstDash val="solid"/>
          </a:ln>
        </p:spPr>
      </p:sp>
      <p:sp>
        <p:nvSpPr>
          <p:cNvPr id="6" name="Text 3"/>
          <p:cNvSpPr/>
          <p:nvPr/>
        </p:nvSpPr>
        <p:spPr>
          <a:xfrm>
            <a:off x="713232" y="3703320"/>
            <a:ext cx="5852160" cy="777240"/>
          </a:xfrm>
          <a:prstGeom prst="rect">
            <a:avLst/>
          </a:prstGeom>
          <a:noFill/>
          <a:ln/>
        </p:spPr>
        <p:txBody>
          <a:bodyPr wrap="square" lIns="0" tIns="0" rIns="0" bIns="0" rtlCol="0" anchor="ctr">
            <a:normAutofit/>
          </a:bodyPr>
          <a:lstStyle/>
          <a:p>
            <a:pPr indent="0" marL="0">
              <a:buNone/>
            </a:pPr>
            <a:r>
              <a:rPr lang="en-US" sz="2000" dirty="0">
                <a:solidFill>
                  <a:srgbClr val="D5E9EF"/>
                </a:solidFill>
                <a:latin typeface="Avenir Next" pitchFamily="34" charset="0"/>
                <a:ea typeface="Avenir Next" pitchFamily="34" charset="-122"/>
                <a:cs typeface="Avenir Next" pitchFamily="34" charset="-120"/>
              </a:rPr>
              <a:t>Bank operating patterns and a full-data SAML-D model comparison</a:t>
            </a:r>
            <a:endParaRPr lang="en-US" sz="2000" dirty="0"/>
          </a:p>
        </p:txBody>
      </p:sp>
      <p:sp>
        <p:nvSpPr>
          <p:cNvPr id="7" name="Text 4"/>
          <p:cNvSpPr/>
          <p:nvPr/>
        </p:nvSpPr>
        <p:spPr>
          <a:xfrm>
            <a:off x="713232" y="6172200"/>
            <a:ext cx="6400800" cy="320040"/>
          </a:xfrm>
          <a:prstGeom prst="rect">
            <a:avLst/>
          </a:prstGeom>
          <a:noFill/>
          <a:ln/>
        </p:spPr>
        <p:txBody>
          <a:bodyPr wrap="square" lIns="0" tIns="0" rIns="0" bIns="0" rtlCol="0" anchor="ctr">
            <a:normAutofit/>
          </a:bodyPr>
          <a:lstStyle/>
          <a:p>
            <a:pPr indent="0" marL="0">
              <a:buNone/>
            </a:pPr>
            <a:r>
              <a:rPr lang="en-US" sz="1400" dirty="0">
                <a:solidFill>
                  <a:srgbClr val="B8CFD5"/>
                </a:solidFill>
                <a:latin typeface="Avenir Next" pitchFamily="34" charset="0"/>
                <a:ea typeface="Avenir Next" pitchFamily="34" charset="-122"/>
                <a:cs typeface="Avenir Next" pitchFamily="34" charset="-120"/>
              </a:rPr>
              <a:t>Class project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Executive readout</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PROJECT FINDINGS</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02</a:t>
            </a:r>
            <a:endParaRPr lang="en-US" sz="1000" dirty="0"/>
          </a:p>
        </p:txBody>
      </p:sp>
      <p:sp>
        <p:nvSpPr>
          <p:cNvPr id="6" name="Text 4"/>
          <p:cNvSpPr/>
          <p:nvPr/>
        </p:nvSpPr>
        <p:spPr>
          <a:xfrm>
            <a:off x="621792" y="1417320"/>
            <a:ext cx="2971800" cy="941832"/>
          </a:xfrm>
          <a:prstGeom prst="rect">
            <a:avLst/>
          </a:prstGeom>
          <a:noFill/>
          <a:ln/>
        </p:spPr>
        <p:txBody>
          <a:bodyPr wrap="square" lIns="0" tIns="0" rIns="0" bIns="0" rtlCol="0" anchor="ctr">
            <a:normAutofit/>
          </a:bodyPr>
          <a:lstStyle/>
          <a:p>
            <a:pPr indent="0" marL="0">
              <a:buNone/>
            </a:pPr>
            <a:r>
              <a:rPr lang="en-US" sz="4700" b="1" dirty="0">
                <a:solidFill>
                  <a:srgbClr val="0B1B2C"/>
                </a:solidFill>
                <a:latin typeface="Avenir Next" pitchFamily="34" charset="0"/>
                <a:ea typeface="Avenir Next" pitchFamily="34" charset="-122"/>
                <a:cs typeface="Avenir Next" pitchFamily="34" charset="-120"/>
              </a:rPr>
              <a:t>9.50M</a:t>
            </a:r>
            <a:endParaRPr lang="en-US" sz="4700" dirty="0"/>
          </a:p>
        </p:txBody>
      </p:sp>
      <p:sp>
        <p:nvSpPr>
          <p:cNvPr id="7" name="Text 5"/>
          <p:cNvSpPr/>
          <p:nvPr/>
        </p:nvSpPr>
        <p:spPr>
          <a:xfrm>
            <a:off x="658368" y="2395728"/>
            <a:ext cx="2743200" cy="32004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synthetic transactions</a:t>
            </a:r>
            <a:endParaRPr lang="en-US" sz="1700" dirty="0"/>
          </a:p>
        </p:txBody>
      </p:sp>
      <p:sp>
        <p:nvSpPr>
          <p:cNvPr id="8" name="Text 6"/>
          <p:cNvSpPr/>
          <p:nvPr/>
        </p:nvSpPr>
        <p:spPr>
          <a:xfrm>
            <a:off x="4617720" y="1417320"/>
            <a:ext cx="2926080" cy="941832"/>
          </a:xfrm>
          <a:prstGeom prst="rect">
            <a:avLst/>
          </a:prstGeom>
          <a:noFill/>
          <a:ln/>
        </p:spPr>
        <p:txBody>
          <a:bodyPr wrap="square" lIns="0" tIns="0" rIns="0" bIns="0" rtlCol="0" anchor="ctr">
            <a:normAutofit/>
          </a:bodyPr>
          <a:lstStyle/>
          <a:p>
            <a:pPr indent="0" marL="0">
              <a:buNone/>
            </a:pPr>
            <a:r>
              <a:rPr lang="en-US" sz="4300" b="1" dirty="0">
                <a:solidFill>
                  <a:srgbClr val="087F8C"/>
                </a:solidFill>
                <a:latin typeface="Avenir Next" pitchFamily="34" charset="0"/>
                <a:ea typeface="Avenir Next" pitchFamily="34" charset="-122"/>
                <a:cs typeface="Avenir Next" pitchFamily="34" charset="-120"/>
              </a:rPr>
              <a:t>0.104%</a:t>
            </a:r>
            <a:endParaRPr lang="en-US" sz="4300" dirty="0"/>
          </a:p>
        </p:txBody>
      </p:sp>
      <p:sp>
        <p:nvSpPr>
          <p:cNvPr id="9" name="Text 7"/>
          <p:cNvSpPr/>
          <p:nvPr/>
        </p:nvSpPr>
        <p:spPr>
          <a:xfrm>
            <a:off x="4645152" y="2395728"/>
            <a:ext cx="2651760" cy="32004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positive labels</a:t>
            </a:r>
            <a:endParaRPr lang="en-US" sz="1700" dirty="0"/>
          </a:p>
        </p:txBody>
      </p:sp>
      <p:sp>
        <p:nvSpPr>
          <p:cNvPr id="10" name="Text 8"/>
          <p:cNvSpPr/>
          <p:nvPr/>
        </p:nvSpPr>
        <p:spPr>
          <a:xfrm>
            <a:off x="8778240" y="1417320"/>
            <a:ext cx="2834640" cy="941832"/>
          </a:xfrm>
          <a:prstGeom prst="rect">
            <a:avLst/>
          </a:prstGeom>
          <a:noFill/>
          <a:ln/>
        </p:spPr>
        <p:txBody>
          <a:bodyPr wrap="square" lIns="0" tIns="0" rIns="0" bIns="0" rtlCol="0" anchor="ctr">
            <a:normAutofit/>
          </a:bodyPr>
          <a:lstStyle/>
          <a:p>
            <a:pPr indent="0" marL="0">
              <a:buNone/>
            </a:pPr>
            <a:r>
              <a:rPr lang="en-US" sz="4300" b="1" dirty="0">
                <a:solidFill>
                  <a:srgbClr val="0B1B2C"/>
                </a:solidFill>
                <a:latin typeface="Avenir Next" pitchFamily="34" charset="0"/>
                <a:ea typeface="Avenir Next" pitchFamily="34" charset="-122"/>
                <a:cs typeface="Avenir Next" pitchFamily="34" charset="-120"/>
              </a:rPr>
              <a:t>0.990</a:t>
            </a:r>
            <a:endParaRPr lang="en-US" sz="4300" dirty="0"/>
          </a:p>
        </p:txBody>
      </p:sp>
      <p:sp>
        <p:nvSpPr>
          <p:cNvPr id="11" name="Text 9"/>
          <p:cNvSpPr/>
          <p:nvPr/>
        </p:nvSpPr>
        <p:spPr>
          <a:xfrm>
            <a:off x="8796528" y="2395728"/>
            <a:ext cx="2560320" cy="32004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XGBoost test AP</a:t>
            </a:r>
            <a:endParaRPr lang="en-US" sz="1700" dirty="0"/>
          </a:p>
        </p:txBody>
      </p:sp>
      <p:sp>
        <p:nvSpPr>
          <p:cNvPr id="12" name="Shape 10"/>
          <p:cNvSpPr/>
          <p:nvPr/>
        </p:nvSpPr>
        <p:spPr>
          <a:xfrm>
            <a:off x="621792" y="3066440"/>
            <a:ext cx="10936224" cy="11887"/>
          </a:xfrm>
          <a:prstGeom prst="rect">
            <a:avLst/>
          </a:prstGeom>
          <a:solidFill>
            <a:srgbClr val="C8D4DB"/>
          </a:solidFill>
          <a:ln w="12700">
            <a:solidFill>
              <a:srgbClr val="C8D4DB">
                <a:alpha val="0"/>
              </a:srgbClr>
            </a:solidFill>
            <a:prstDash val="solid"/>
          </a:ln>
        </p:spPr>
      </p:sp>
      <p:sp>
        <p:nvSpPr>
          <p:cNvPr id="13" name="Text 11"/>
          <p:cNvSpPr/>
          <p:nvPr/>
        </p:nvSpPr>
        <p:spPr>
          <a:xfrm>
            <a:off x="630936" y="3337560"/>
            <a:ext cx="3017520" cy="393192"/>
          </a:xfrm>
          <a:prstGeom prst="rect">
            <a:avLst/>
          </a:prstGeom>
          <a:noFill/>
          <a:ln/>
        </p:spPr>
        <p:txBody>
          <a:bodyPr wrap="square" lIns="0" tIns="0" rIns="0" bIns="0" rtlCol="0" anchor="ctr">
            <a:normAutofit/>
          </a:bodyPr>
          <a:lstStyle/>
          <a:p>
            <a:pPr indent="0" marL="0">
              <a:buNone/>
            </a:pPr>
            <a:r>
              <a:rPr lang="en-US" sz="2000" b="1" dirty="0">
                <a:solidFill>
                  <a:srgbClr val="087F8C"/>
                </a:solidFill>
                <a:latin typeface="Avenir Next" pitchFamily="34" charset="0"/>
                <a:ea typeface="Avenir Next" pitchFamily="34" charset="-122"/>
                <a:cs typeface="Avenir Next" pitchFamily="34" charset="-120"/>
              </a:rPr>
              <a:t>Selected result</a:t>
            </a:r>
            <a:endParaRPr lang="en-US" sz="2000" dirty="0"/>
          </a:p>
        </p:txBody>
      </p:sp>
      <p:sp>
        <p:nvSpPr>
          <p:cNvPr id="14" name="Text 12"/>
          <p:cNvSpPr/>
          <p:nvPr/>
        </p:nvSpPr>
        <p:spPr>
          <a:xfrm>
            <a:off x="630936" y="3767328"/>
            <a:ext cx="10835640" cy="914400"/>
          </a:xfrm>
          <a:prstGeom prst="rect">
            <a:avLst/>
          </a:prstGeom>
          <a:noFill/>
          <a:ln/>
        </p:spPr>
        <p:txBody>
          <a:bodyPr wrap="square" lIns="0" tIns="0" rIns="0" bIns="0" rtlCol="0" anchor="ctr">
            <a:normAutofit/>
          </a:bodyPr>
          <a:lstStyle/>
          <a:p>
            <a:pPr indent="0" marL="0">
              <a:buNone/>
            </a:pPr>
            <a:r>
              <a:rPr lang="en-US" sz="2100" dirty="0">
                <a:solidFill>
                  <a:srgbClr val="162536"/>
                </a:solidFill>
                <a:latin typeface="Avenir Next" pitchFamily="34" charset="0"/>
                <a:ea typeface="Avenir Next" pitchFamily="34" charset="-122"/>
                <a:cs typeface="Avenir Next" pitchFamily="34" charset="-120"/>
              </a:rPr>
              <a:t>XGBoost scored every test transaction and flagged 1,708. It caught 1,650 of 1,683 synthetic positives with 58 false alerts.</a:t>
            </a:r>
            <a:endParaRPr lang="en-US" sz="2100" dirty="0"/>
          </a:p>
        </p:txBody>
      </p:sp>
      <p:sp>
        <p:nvSpPr>
          <p:cNvPr id="15" name="Text 13"/>
          <p:cNvSpPr/>
          <p:nvPr/>
        </p:nvSpPr>
        <p:spPr>
          <a:xfrm>
            <a:off x="630936" y="4910328"/>
            <a:ext cx="3017520" cy="393192"/>
          </a:xfrm>
          <a:prstGeom prst="rect">
            <a:avLst/>
          </a:prstGeom>
          <a:noFill/>
          <a:ln/>
        </p:spPr>
        <p:txBody>
          <a:bodyPr wrap="square" lIns="0" tIns="0" rIns="0" bIns="0" rtlCol="0" anchor="ctr">
            <a:normAutofit/>
          </a:bodyPr>
          <a:lstStyle/>
          <a:p>
            <a:pPr indent="0" marL="0">
              <a:buNone/>
            </a:pPr>
            <a:r>
              <a:rPr lang="en-US" sz="2000" b="1" dirty="0">
                <a:solidFill>
                  <a:srgbClr val="A96132"/>
                </a:solidFill>
                <a:latin typeface="Avenir Next" pitchFamily="34" charset="0"/>
                <a:ea typeface="Avenir Next" pitchFamily="34" charset="-122"/>
                <a:cs typeface="Avenir Next" pitchFamily="34" charset="-120"/>
              </a:rPr>
              <a:t>Decision boundary</a:t>
            </a:r>
            <a:endParaRPr lang="en-US" sz="2000" dirty="0"/>
          </a:p>
        </p:txBody>
      </p:sp>
      <p:sp>
        <p:nvSpPr>
          <p:cNvPr id="16" name="Text 14"/>
          <p:cNvSpPr/>
          <p:nvPr/>
        </p:nvSpPr>
        <p:spPr>
          <a:xfrm>
            <a:off x="630936" y="5349240"/>
            <a:ext cx="10835640" cy="731520"/>
          </a:xfrm>
          <a:prstGeom prst="rect">
            <a:avLst/>
          </a:prstGeom>
          <a:noFill/>
          <a:ln/>
        </p:spPr>
        <p:txBody>
          <a:bodyPr wrap="square" lIns="0" tIns="0" rIns="0" bIns="0" rtlCol="0" anchor="ctr">
            <a:normAutofit/>
          </a:bodyPr>
          <a:lstStyle/>
          <a:p>
            <a:pPr indent="0" marL="0">
              <a:buNone/>
            </a:pPr>
            <a:r>
              <a:rPr lang="en-US" sz="2000" dirty="0">
                <a:solidFill>
                  <a:srgbClr val="162536"/>
                </a:solidFill>
                <a:latin typeface="Avenir Next" pitchFamily="34" charset="0"/>
                <a:ea typeface="Avenir Next" pitchFamily="34" charset="-122"/>
                <a:cs typeface="Avenir Next" pitchFamily="34" charset="-120"/>
              </a:rPr>
              <a:t>Track alert unions are diagnostics. The selected queue is XGBoost alone; the 72,795-alert combined queue is not recommended.</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Four monitoring patterns and one project example</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BANK OPERATING PATTERNS</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03</a:t>
            </a:r>
            <a:endParaRPr lang="en-US" sz="1000" dirty="0"/>
          </a:p>
        </p:txBody>
      </p:sp>
      <p:sp>
        <p:nvSpPr>
          <p:cNvPr id="6" name="Text 4"/>
          <p:cNvSpPr/>
          <p:nvPr/>
        </p:nvSpPr>
        <p:spPr>
          <a:xfrm>
            <a:off x="621792" y="1252728"/>
            <a:ext cx="10789920" cy="411480"/>
          </a:xfrm>
          <a:prstGeom prst="rect">
            <a:avLst/>
          </a:prstGeom>
          <a:noFill/>
          <a:ln/>
        </p:spPr>
        <p:txBody>
          <a:bodyPr wrap="square" lIns="0" tIns="0" rIns="0" bIns="0" rtlCol="0" anchor="ctr">
            <a:normAutofit/>
          </a:bodyPr>
          <a:lstStyle/>
          <a:p>
            <a:pPr indent="0" marL="0">
              <a:buNone/>
            </a:pPr>
            <a:r>
              <a:rPr lang="en-US" sz="1800" dirty="0">
                <a:solidFill>
                  <a:srgbClr val="526577"/>
                </a:solidFill>
                <a:latin typeface="Avenir Next" pitchFamily="34" charset="0"/>
                <a:ea typeface="Avenir Next" pitchFamily="34" charset="-122"/>
                <a:cs typeface="Avenir Next" pitchFamily="34" charset="-120"/>
              </a:rPr>
              <a:t>Illustrative operating patterns, followed by this project’s distinct all-transaction MVP.</a:t>
            </a:r>
            <a:endParaRPr lang="en-US" sz="1800" dirty="0"/>
          </a:p>
        </p:txBody>
      </p:sp>
      <p:sp>
        <p:nvSpPr>
          <p:cNvPr id="7" name="Text 5"/>
          <p:cNvSpPr/>
          <p:nvPr/>
        </p:nvSpPr>
        <p:spPr>
          <a:xfrm>
            <a:off x="576072" y="1828800"/>
            <a:ext cx="429768" cy="384048"/>
          </a:xfrm>
          <a:prstGeom prst="rect">
            <a:avLst/>
          </a:prstGeom>
          <a:noFill/>
          <a:ln/>
        </p:spPr>
        <p:txBody>
          <a:bodyPr wrap="square" lIns="0" tIns="0" rIns="0" bIns="0" rtlCol="0" anchor="ctr">
            <a:normAutofit/>
          </a:bodyPr>
          <a:lstStyle/>
          <a:p>
            <a:pPr indent="0" marL="0">
              <a:buNone/>
            </a:pPr>
            <a:r>
              <a:rPr lang="en-US" sz="2200" b="1" dirty="0">
                <a:solidFill>
                  <a:srgbClr val="087F8C"/>
                </a:solidFill>
                <a:latin typeface="Avenir Next" pitchFamily="34" charset="0"/>
                <a:ea typeface="Avenir Next" pitchFamily="34" charset="-122"/>
                <a:cs typeface="Avenir Next" pitchFamily="34" charset="-120"/>
              </a:rPr>
              <a:t>1</a:t>
            </a:r>
            <a:endParaRPr lang="en-US" sz="2200" dirty="0"/>
          </a:p>
        </p:txBody>
      </p:sp>
      <p:sp>
        <p:nvSpPr>
          <p:cNvPr id="8" name="Shape 6"/>
          <p:cNvSpPr/>
          <p:nvPr/>
        </p:nvSpPr>
        <p:spPr>
          <a:xfrm>
            <a:off x="493776" y="2258568"/>
            <a:ext cx="2176272" cy="384048"/>
          </a:xfrm>
          <a:prstGeom prst="rightArrow">
            <a:avLst/>
          </a:prstGeom>
          <a:solidFill>
            <a:srgbClr val="087F8C"/>
          </a:solidFill>
          <a:ln w="12700">
            <a:solidFill>
              <a:srgbClr val="087F8C">
                <a:alpha val="0"/>
              </a:srgbClr>
            </a:solidFill>
            <a:prstDash val="solid"/>
          </a:ln>
        </p:spPr>
      </p:sp>
      <p:sp>
        <p:nvSpPr>
          <p:cNvPr id="9" name="Text 7"/>
          <p:cNvSpPr/>
          <p:nvPr/>
        </p:nvSpPr>
        <p:spPr>
          <a:xfrm>
            <a:off x="493776" y="2779776"/>
            <a:ext cx="2039112" cy="502920"/>
          </a:xfrm>
          <a:prstGeom prst="rect">
            <a:avLst/>
          </a:prstGeom>
          <a:noFill/>
          <a:ln/>
        </p:spPr>
        <p:txBody>
          <a:bodyPr wrap="square" lIns="0" tIns="0" rIns="0" bIns="0" rtlCol="0" anchor="ctr">
            <a:normAutofit/>
          </a:bodyPr>
          <a:lstStyle/>
          <a:p>
            <a:pPr indent="0" marL="0">
              <a:buNone/>
            </a:pPr>
            <a:r>
              <a:rPr lang="en-US" sz="1800" b="1" dirty="0">
                <a:solidFill>
                  <a:srgbClr val="0B1B2C"/>
                </a:solidFill>
                <a:latin typeface="Avenir Next" pitchFamily="34" charset="0"/>
                <a:ea typeface="Avenir Next" pitchFamily="34" charset="-122"/>
                <a:cs typeface="Avenir Next" pitchFamily="34" charset="-120"/>
              </a:rPr>
              <a:t>Rules</a:t>
            </a:r>
            <a:endParaRPr lang="en-US" sz="1800" dirty="0"/>
          </a:p>
        </p:txBody>
      </p:sp>
      <p:sp>
        <p:nvSpPr>
          <p:cNvPr id="10" name="Text 8"/>
          <p:cNvSpPr/>
          <p:nvPr/>
        </p:nvSpPr>
        <p:spPr>
          <a:xfrm>
            <a:off x="493776" y="3246120"/>
            <a:ext cx="2039112" cy="109728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Rules create alerts for analyst review</a:t>
            </a:r>
            <a:endParaRPr lang="en-US" sz="1700" dirty="0"/>
          </a:p>
        </p:txBody>
      </p:sp>
      <p:sp>
        <p:nvSpPr>
          <p:cNvPr id="11" name="Text 9"/>
          <p:cNvSpPr/>
          <p:nvPr/>
        </p:nvSpPr>
        <p:spPr>
          <a:xfrm>
            <a:off x="2907792" y="1828800"/>
            <a:ext cx="429768" cy="384048"/>
          </a:xfrm>
          <a:prstGeom prst="rect">
            <a:avLst/>
          </a:prstGeom>
          <a:noFill/>
          <a:ln/>
        </p:spPr>
        <p:txBody>
          <a:bodyPr wrap="square" lIns="0" tIns="0" rIns="0" bIns="0" rtlCol="0" anchor="ctr">
            <a:normAutofit/>
          </a:bodyPr>
          <a:lstStyle/>
          <a:p>
            <a:pPr indent="0" marL="0">
              <a:buNone/>
            </a:pPr>
            <a:r>
              <a:rPr lang="en-US" sz="2200" b="1" dirty="0">
                <a:solidFill>
                  <a:srgbClr val="087F8C"/>
                </a:solidFill>
                <a:latin typeface="Avenir Next" pitchFamily="34" charset="0"/>
                <a:ea typeface="Avenir Next" pitchFamily="34" charset="-122"/>
                <a:cs typeface="Avenir Next" pitchFamily="34" charset="-120"/>
              </a:rPr>
              <a:t>2</a:t>
            </a:r>
            <a:endParaRPr lang="en-US" sz="2200" dirty="0"/>
          </a:p>
        </p:txBody>
      </p:sp>
      <p:sp>
        <p:nvSpPr>
          <p:cNvPr id="12" name="Shape 10"/>
          <p:cNvSpPr/>
          <p:nvPr/>
        </p:nvSpPr>
        <p:spPr>
          <a:xfrm>
            <a:off x="2825496" y="2258568"/>
            <a:ext cx="2176272" cy="384048"/>
          </a:xfrm>
          <a:prstGeom prst="rightArrow">
            <a:avLst/>
          </a:prstGeom>
          <a:solidFill>
            <a:srgbClr val="087F8C"/>
          </a:solidFill>
          <a:ln w="12700">
            <a:solidFill>
              <a:srgbClr val="087F8C">
                <a:alpha val="0"/>
              </a:srgbClr>
            </a:solidFill>
            <a:prstDash val="solid"/>
          </a:ln>
        </p:spPr>
      </p:sp>
      <p:sp>
        <p:nvSpPr>
          <p:cNvPr id="13" name="Text 11"/>
          <p:cNvSpPr/>
          <p:nvPr/>
        </p:nvSpPr>
        <p:spPr>
          <a:xfrm>
            <a:off x="2825496" y="2779776"/>
            <a:ext cx="2039112" cy="502920"/>
          </a:xfrm>
          <a:prstGeom prst="rect">
            <a:avLst/>
          </a:prstGeom>
          <a:noFill/>
          <a:ln/>
        </p:spPr>
        <p:txBody>
          <a:bodyPr wrap="square" lIns="0" tIns="0" rIns="0" bIns="0" rtlCol="0" anchor="ctr">
            <a:normAutofit/>
          </a:bodyPr>
          <a:lstStyle/>
          <a:p>
            <a:pPr indent="0" marL="0">
              <a:buNone/>
            </a:pPr>
            <a:r>
              <a:rPr lang="en-US" sz="1800" b="1" dirty="0">
                <a:solidFill>
                  <a:srgbClr val="0B1B2C"/>
                </a:solidFill>
                <a:latin typeface="Avenir Next" pitchFamily="34" charset="0"/>
                <a:ea typeface="Avenir Next" pitchFamily="34" charset="-122"/>
                <a:cs typeface="Avenir Next" pitchFamily="34" charset="-120"/>
              </a:rPr>
              <a:t>Risk ranking</a:t>
            </a:r>
            <a:endParaRPr lang="en-US" sz="1800" dirty="0"/>
          </a:p>
        </p:txBody>
      </p:sp>
      <p:sp>
        <p:nvSpPr>
          <p:cNvPr id="14" name="Text 12"/>
          <p:cNvSpPr/>
          <p:nvPr/>
        </p:nvSpPr>
        <p:spPr>
          <a:xfrm>
            <a:off x="2825496" y="3246120"/>
            <a:ext cx="2039112" cy="109728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Ranks rule alerts for review</a:t>
            </a:r>
            <a:endParaRPr lang="en-US" sz="1700" dirty="0"/>
          </a:p>
        </p:txBody>
      </p:sp>
      <p:sp>
        <p:nvSpPr>
          <p:cNvPr id="15" name="Text 13"/>
          <p:cNvSpPr/>
          <p:nvPr/>
        </p:nvSpPr>
        <p:spPr>
          <a:xfrm>
            <a:off x="5239512" y="1828800"/>
            <a:ext cx="429768" cy="384048"/>
          </a:xfrm>
          <a:prstGeom prst="rect">
            <a:avLst/>
          </a:prstGeom>
          <a:noFill/>
          <a:ln/>
        </p:spPr>
        <p:txBody>
          <a:bodyPr wrap="square" lIns="0" tIns="0" rIns="0" bIns="0" rtlCol="0" anchor="ctr">
            <a:normAutofit/>
          </a:bodyPr>
          <a:lstStyle/>
          <a:p>
            <a:pPr indent="0" marL="0">
              <a:buNone/>
            </a:pPr>
            <a:r>
              <a:rPr lang="en-US" sz="2200" b="1" dirty="0">
                <a:solidFill>
                  <a:srgbClr val="087F8C"/>
                </a:solidFill>
                <a:latin typeface="Avenir Next" pitchFamily="34" charset="0"/>
                <a:ea typeface="Avenir Next" pitchFamily="34" charset="-122"/>
                <a:cs typeface="Avenir Next" pitchFamily="34" charset="-120"/>
              </a:rPr>
              <a:t>3</a:t>
            </a:r>
            <a:endParaRPr lang="en-US" sz="2200" dirty="0"/>
          </a:p>
        </p:txBody>
      </p:sp>
      <p:sp>
        <p:nvSpPr>
          <p:cNvPr id="16" name="Shape 14"/>
          <p:cNvSpPr/>
          <p:nvPr/>
        </p:nvSpPr>
        <p:spPr>
          <a:xfrm>
            <a:off x="5157216" y="2258568"/>
            <a:ext cx="2176272" cy="384048"/>
          </a:xfrm>
          <a:prstGeom prst="rightArrow">
            <a:avLst/>
          </a:prstGeom>
          <a:solidFill>
            <a:srgbClr val="087F8C"/>
          </a:solidFill>
          <a:ln w="12700">
            <a:solidFill>
              <a:srgbClr val="087F8C">
                <a:alpha val="0"/>
              </a:srgbClr>
            </a:solidFill>
            <a:prstDash val="solid"/>
          </a:ln>
        </p:spPr>
      </p:sp>
      <p:sp>
        <p:nvSpPr>
          <p:cNvPr id="17" name="Text 15"/>
          <p:cNvSpPr/>
          <p:nvPr/>
        </p:nvSpPr>
        <p:spPr>
          <a:xfrm>
            <a:off x="5157216" y="2779776"/>
            <a:ext cx="2039112" cy="502920"/>
          </a:xfrm>
          <a:prstGeom prst="rect">
            <a:avLst/>
          </a:prstGeom>
          <a:noFill/>
          <a:ln/>
        </p:spPr>
        <p:txBody>
          <a:bodyPr wrap="square" lIns="0" tIns="0" rIns="0" bIns="0" rtlCol="0" anchor="ctr">
            <a:normAutofit/>
          </a:bodyPr>
          <a:lstStyle/>
          <a:p>
            <a:pPr indent="0" marL="0">
              <a:buNone/>
            </a:pPr>
            <a:r>
              <a:rPr lang="en-US" sz="1800" b="1" dirty="0">
                <a:solidFill>
                  <a:srgbClr val="0B1B2C"/>
                </a:solidFill>
                <a:latin typeface="Avenir Next" pitchFamily="34" charset="0"/>
                <a:ea typeface="Avenir Next" pitchFamily="34" charset="-122"/>
                <a:cs typeface="Avenir Next" pitchFamily="34" charset="-120"/>
              </a:rPr>
              <a:t>Parallel detection</a:t>
            </a:r>
            <a:endParaRPr lang="en-US" sz="1800" dirty="0"/>
          </a:p>
        </p:txBody>
      </p:sp>
      <p:sp>
        <p:nvSpPr>
          <p:cNvPr id="18" name="Text 16"/>
          <p:cNvSpPr/>
          <p:nvPr/>
        </p:nvSpPr>
        <p:spPr>
          <a:xfrm>
            <a:off x="5157216" y="3246120"/>
            <a:ext cx="2039112" cy="109728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Rules and a model create alerts</a:t>
            </a:r>
            <a:endParaRPr lang="en-US" sz="1700" dirty="0"/>
          </a:p>
        </p:txBody>
      </p:sp>
      <p:sp>
        <p:nvSpPr>
          <p:cNvPr id="19" name="Text 17"/>
          <p:cNvSpPr/>
          <p:nvPr/>
        </p:nvSpPr>
        <p:spPr>
          <a:xfrm>
            <a:off x="7571232" y="1828800"/>
            <a:ext cx="429768" cy="384048"/>
          </a:xfrm>
          <a:prstGeom prst="rect">
            <a:avLst/>
          </a:prstGeom>
          <a:noFill/>
          <a:ln/>
        </p:spPr>
        <p:txBody>
          <a:bodyPr wrap="square" lIns="0" tIns="0" rIns="0" bIns="0" rtlCol="0" anchor="ctr">
            <a:normAutofit/>
          </a:bodyPr>
          <a:lstStyle/>
          <a:p>
            <a:pPr indent="0" marL="0">
              <a:buNone/>
            </a:pPr>
            <a:r>
              <a:rPr lang="en-US" sz="2200" b="1" dirty="0">
                <a:solidFill>
                  <a:srgbClr val="087F8C"/>
                </a:solidFill>
                <a:latin typeface="Avenir Next" pitchFamily="34" charset="0"/>
                <a:ea typeface="Avenir Next" pitchFamily="34" charset="-122"/>
                <a:cs typeface="Avenir Next" pitchFamily="34" charset="-120"/>
              </a:rPr>
              <a:t>4</a:t>
            </a:r>
            <a:endParaRPr lang="en-US" sz="2200" dirty="0"/>
          </a:p>
        </p:txBody>
      </p:sp>
      <p:sp>
        <p:nvSpPr>
          <p:cNvPr id="20" name="Shape 18"/>
          <p:cNvSpPr/>
          <p:nvPr/>
        </p:nvSpPr>
        <p:spPr>
          <a:xfrm>
            <a:off x="7488936" y="2258568"/>
            <a:ext cx="2176272" cy="384048"/>
          </a:xfrm>
          <a:prstGeom prst="rightArrow">
            <a:avLst/>
          </a:prstGeom>
          <a:solidFill>
            <a:srgbClr val="087F8C"/>
          </a:solidFill>
          <a:ln w="12700">
            <a:solidFill>
              <a:srgbClr val="087F8C">
                <a:alpha val="0"/>
              </a:srgbClr>
            </a:solidFill>
            <a:prstDash val="solid"/>
          </a:ln>
        </p:spPr>
      </p:sp>
      <p:sp>
        <p:nvSpPr>
          <p:cNvPr id="21" name="Text 19"/>
          <p:cNvSpPr/>
          <p:nvPr/>
        </p:nvSpPr>
        <p:spPr>
          <a:xfrm>
            <a:off x="7488936" y="2779776"/>
            <a:ext cx="2039112" cy="502920"/>
          </a:xfrm>
          <a:prstGeom prst="rect">
            <a:avLst/>
          </a:prstGeom>
          <a:noFill/>
          <a:ln/>
        </p:spPr>
        <p:txBody>
          <a:bodyPr wrap="square" lIns="0" tIns="0" rIns="0" bIns="0" rtlCol="0" anchor="ctr">
            <a:normAutofit/>
          </a:bodyPr>
          <a:lstStyle/>
          <a:p>
            <a:pPr indent="0" marL="0">
              <a:buNone/>
            </a:pPr>
            <a:r>
              <a:rPr lang="en-US" sz="1800" b="1" dirty="0">
                <a:solidFill>
                  <a:srgbClr val="0B1B2C"/>
                </a:solidFill>
                <a:latin typeface="Avenir Next" pitchFamily="34" charset="0"/>
                <a:ea typeface="Avenir Next" pitchFamily="34" charset="-122"/>
                <a:cs typeface="Avenir Next" pitchFamily="34" charset="-120"/>
              </a:rPr>
              <a:t>ML alert triage</a:t>
            </a:r>
            <a:endParaRPr lang="en-US" sz="1800" dirty="0"/>
          </a:p>
        </p:txBody>
      </p:sp>
      <p:sp>
        <p:nvSpPr>
          <p:cNvPr id="22" name="Text 20"/>
          <p:cNvSpPr/>
          <p:nvPr/>
        </p:nvSpPr>
        <p:spPr>
          <a:xfrm>
            <a:off x="7488936" y="3246120"/>
            <a:ext cx="2039112" cy="109728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ML ranks consolidated alerts</a:t>
            </a:r>
            <a:endParaRPr lang="en-US" sz="1700" dirty="0"/>
          </a:p>
        </p:txBody>
      </p:sp>
      <p:sp>
        <p:nvSpPr>
          <p:cNvPr id="23" name="Text 21"/>
          <p:cNvSpPr/>
          <p:nvPr/>
        </p:nvSpPr>
        <p:spPr>
          <a:xfrm>
            <a:off x="9902952" y="1828800"/>
            <a:ext cx="1325880" cy="384048"/>
          </a:xfrm>
          <a:prstGeom prst="rect">
            <a:avLst/>
          </a:prstGeom>
          <a:noFill/>
          <a:ln/>
        </p:spPr>
        <p:txBody>
          <a:bodyPr wrap="square" lIns="0" tIns="0" rIns="0" bIns="0" rtlCol="0" anchor="ctr">
            <a:normAutofit/>
          </a:bodyPr>
          <a:lstStyle/>
          <a:p>
            <a:pPr indent="0" marL="0">
              <a:buNone/>
            </a:pPr>
            <a:r>
              <a:rPr lang="en-US" sz="1600" b="1" dirty="0">
                <a:solidFill>
                  <a:srgbClr val="A96132"/>
                </a:solidFill>
                <a:latin typeface="Avenir Next" pitchFamily="34" charset="0"/>
                <a:ea typeface="Avenir Next" pitchFamily="34" charset="-122"/>
                <a:cs typeface="Avenir Next" pitchFamily="34" charset="-120"/>
              </a:rPr>
              <a:t>PROJECT</a:t>
            </a:r>
            <a:endParaRPr lang="en-US" sz="1600" dirty="0"/>
          </a:p>
        </p:txBody>
      </p:sp>
      <p:sp>
        <p:nvSpPr>
          <p:cNvPr id="24" name="Shape 22"/>
          <p:cNvSpPr/>
          <p:nvPr/>
        </p:nvSpPr>
        <p:spPr>
          <a:xfrm>
            <a:off x="9820656" y="2258568"/>
            <a:ext cx="2176272" cy="384048"/>
          </a:xfrm>
          <a:prstGeom prst="rect">
            <a:avLst/>
          </a:prstGeom>
          <a:solidFill>
            <a:srgbClr val="D79A57"/>
          </a:solidFill>
          <a:ln w="12700">
            <a:solidFill>
              <a:srgbClr val="D79A57">
                <a:alpha val="0"/>
              </a:srgbClr>
            </a:solidFill>
            <a:prstDash val="solid"/>
          </a:ln>
        </p:spPr>
      </p:sp>
      <p:sp>
        <p:nvSpPr>
          <p:cNvPr id="25" name="Text 23"/>
          <p:cNvSpPr/>
          <p:nvPr/>
        </p:nvSpPr>
        <p:spPr>
          <a:xfrm>
            <a:off x="9820656" y="2779776"/>
            <a:ext cx="2039112" cy="502920"/>
          </a:xfrm>
          <a:prstGeom prst="rect">
            <a:avLst/>
          </a:prstGeom>
          <a:noFill/>
          <a:ln/>
        </p:spPr>
        <p:txBody>
          <a:bodyPr wrap="square" lIns="0" tIns="0" rIns="0" bIns="0" rtlCol="0" anchor="ctr">
            <a:normAutofit/>
          </a:bodyPr>
          <a:lstStyle/>
          <a:p>
            <a:pPr indent="0" marL="0">
              <a:buNone/>
            </a:pPr>
            <a:r>
              <a:rPr lang="en-US" sz="1800" b="1" dirty="0">
                <a:solidFill>
                  <a:srgbClr val="0B1B2C"/>
                </a:solidFill>
                <a:latin typeface="Avenir Next" pitchFamily="34" charset="0"/>
                <a:ea typeface="Avenir Next" pitchFamily="34" charset="-122"/>
                <a:cs typeface="Avenir Next" pitchFamily="34" charset="-120"/>
              </a:rPr>
              <a:t>This MVP</a:t>
            </a:r>
            <a:endParaRPr lang="en-US" sz="1800" dirty="0"/>
          </a:p>
        </p:txBody>
      </p:sp>
      <p:sp>
        <p:nvSpPr>
          <p:cNvPr id="26" name="Text 24"/>
          <p:cNvSpPr/>
          <p:nvPr/>
        </p:nvSpPr>
        <p:spPr>
          <a:xfrm>
            <a:off x="9820656" y="3246120"/>
            <a:ext cx="2039112" cy="109728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All transactions scored; selected model creates alerts</a:t>
            </a:r>
            <a:endParaRPr lang="en-US" sz="1700" dirty="0"/>
          </a:p>
        </p:txBody>
      </p:sp>
      <p:sp>
        <p:nvSpPr>
          <p:cNvPr id="27" name="Text 25"/>
          <p:cNvSpPr/>
          <p:nvPr/>
        </p:nvSpPr>
        <p:spPr>
          <a:xfrm>
            <a:off x="621792" y="4892040"/>
            <a:ext cx="7315200" cy="457200"/>
          </a:xfrm>
          <a:prstGeom prst="rect">
            <a:avLst/>
          </a:prstGeom>
          <a:noFill/>
          <a:ln/>
        </p:spPr>
        <p:txBody>
          <a:bodyPr wrap="square" lIns="0" tIns="0" rIns="0" bIns="0" rtlCol="0" anchor="ctr">
            <a:normAutofit/>
          </a:bodyPr>
          <a:lstStyle/>
          <a:p>
            <a:pPr indent="0" marL="0">
              <a:buNone/>
            </a:pPr>
            <a:r>
              <a:rPr lang="en-US" sz="2100" b="1" dirty="0">
                <a:solidFill>
                  <a:srgbClr val="0B1B2C"/>
                </a:solidFill>
                <a:latin typeface="Avenir Next" pitchFamily="34" charset="0"/>
                <a:ea typeface="Avenir Next" pitchFamily="34" charset="-122"/>
                <a:cs typeface="Avenir Next" pitchFamily="34" charset="-120"/>
              </a:rPr>
              <a:t>The design questions across patterns</a:t>
            </a:r>
            <a:endParaRPr lang="en-US" sz="2100" dirty="0"/>
          </a:p>
        </p:txBody>
      </p:sp>
      <p:sp>
        <p:nvSpPr>
          <p:cNvPr id="28" name="Text 26"/>
          <p:cNvSpPr/>
          <p:nvPr/>
        </p:nvSpPr>
        <p:spPr>
          <a:xfrm>
            <a:off x="621792" y="5431536"/>
            <a:ext cx="10789920" cy="594360"/>
          </a:xfrm>
          <a:prstGeom prst="rect">
            <a:avLst/>
          </a:prstGeom>
          <a:noFill/>
          <a:ln/>
        </p:spPr>
        <p:txBody>
          <a:bodyPr wrap="square" lIns="0" tIns="0" rIns="0" bIns="0" rtlCol="0" anchor="ctr">
            <a:normAutofit/>
          </a:bodyPr>
          <a:lstStyle/>
          <a:p>
            <a:pPr indent="0" marL="0">
              <a:buNone/>
            </a:pPr>
            <a:r>
              <a:rPr lang="en-US" sz="2000" dirty="0">
                <a:solidFill>
                  <a:srgbClr val="162536"/>
                </a:solidFill>
                <a:latin typeface="Avenir Next" pitchFamily="34" charset="0"/>
                <a:ea typeface="Avenir Next" pitchFamily="34" charset="-122"/>
                <a:cs typeface="Avenir Next" pitchFamily="34" charset="-120"/>
              </a:rPr>
              <a:t>What enters the candidate pool? What determines review priority? How is added coverage measured against workload?</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Pattern 1: rules and analyst review</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BANK OPERATING PATTERNS</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04</a:t>
            </a:r>
            <a:endParaRPr lang="en-US" sz="1000" dirty="0"/>
          </a:p>
        </p:txBody>
      </p:sp>
      <p:sp>
        <p:nvSpPr>
          <p:cNvPr id="6" name="Shape 4"/>
          <p:cNvSpPr/>
          <p:nvPr/>
        </p:nvSpPr>
        <p:spPr>
          <a:xfrm>
            <a:off x="621792" y="1883664"/>
            <a:ext cx="2011680" cy="841248"/>
          </a:xfrm>
          <a:prstGeom prst="rect">
            <a:avLst/>
          </a:prstGeom>
          <a:solidFill>
            <a:srgbClr val="FFFFFF"/>
          </a:solidFill>
          <a:ln w="12700">
            <a:solidFill>
              <a:srgbClr val="C8D4DB"/>
            </a:solidFill>
            <a:prstDash val="solid"/>
          </a:ln>
        </p:spPr>
      </p:sp>
      <p:sp>
        <p:nvSpPr>
          <p:cNvPr id="7" name="Text 5"/>
          <p:cNvSpPr/>
          <p:nvPr/>
        </p:nvSpPr>
        <p:spPr>
          <a:xfrm>
            <a:off x="740664"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Transactions</a:t>
            </a:r>
            <a:endParaRPr lang="en-US" sz="1800" dirty="0"/>
          </a:p>
        </p:txBody>
      </p:sp>
      <p:sp>
        <p:nvSpPr>
          <p:cNvPr id="8" name="Shape 6"/>
          <p:cNvSpPr/>
          <p:nvPr/>
        </p:nvSpPr>
        <p:spPr>
          <a:xfrm>
            <a:off x="2834640" y="1883664"/>
            <a:ext cx="2011680" cy="841248"/>
          </a:xfrm>
          <a:prstGeom prst="rect">
            <a:avLst/>
          </a:prstGeom>
          <a:solidFill>
            <a:srgbClr val="E5F1F2"/>
          </a:solidFill>
          <a:ln w="12700">
            <a:solidFill>
              <a:srgbClr val="C8D4DB"/>
            </a:solidFill>
            <a:prstDash val="solid"/>
          </a:ln>
        </p:spPr>
      </p:sp>
      <p:sp>
        <p:nvSpPr>
          <p:cNvPr id="9" name="Text 7"/>
          <p:cNvSpPr/>
          <p:nvPr/>
        </p:nvSpPr>
        <p:spPr>
          <a:xfrm>
            <a:off x="2953512"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Rules</a:t>
            </a:r>
            <a:endParaRPr lang="en-US" sz="1800" dirty="0"/>
          </a:p>
        </p:txBody>
      </p:sp>
      <p:sp>
        <p:nvSpPr>
          <p:cNvPr id="10" name="Shape 8"/>
          <p:cNvSpPr/>
          <p:nvPr/>
        </p:nvSpPr>
        <p:spPr>
          <a:xfrm>
            <a:off x="5047488" y="1883664"/>
            <a:ext cx="2011680" cy="841248"/>
          </a:xfrm>
          <a:prstGeom prst="rect">
            <a:avLst/>
          </a:prstGeom>
          <a:solidFill>
            <a:srgbClr val="FFFFFF"/>
          </a:solidFill>
          <a:ln w="12700">
            <a:solidFill>
              <a:srgbClr val="C8D4DB"/>
            </a:solidFill>
            <a:prstDash val="solid"/>
          </a:ln>
        </p:spPr>
      </p:sp>
      <p:sp>
        <p:nvSpPr>
          <p:cNvPr id="11" name="Text 9"/>
          <p:cNvSpPr/>
          <p:nvPr/>
        </p:nvSpPr>
        <p:spPr>
          <a:xfrm>
            <a:off x="5166360"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Rule alerts</a:t>
            </a:r>
            <a:endParaRPr lang="en-US" sz="1800" dirty="0"/>
          </a:p>
        </p:txBody>
      </p:sp>
      <p:sp>
        <p:nvSpPr>
          <p:cNvPr id="12" name="Shape 10"/>
          <p:cNvSpPr/>
          <p:nvPr/>
        </p:nvSpPr>
        <p:spPr>
          <a:xfrm>
            <a:off x="7260336" y="1883664"/>
            <a:ext cx="2011680" cy="841248"/>
          </a:xfrm>
          <a:prstGeom prst="rect">
            <a:avLst/>
          </a:prstGeom>
          <a:solidFill>
            <a:srgbClr val="FFFFFF"/>
          </a:solidFill>
          <a:ln w="12700">
            <a:solidFill>
              <a:srgbClr val="C8D4DB"/>
            </a:solidFill>
            <a:prstDash val="solid"/>
          </a:ln>
        </p:spPr>
      </p:sp>
      <p:sp>
        <p:nvSpPr>
          <p:cNvPr id="13" name="Text 11"/>
          <p:cNvSpPr/>
          <p:nvPr/>
        </p:nvSpPr>
        <p:spPr>
          <a:xfrm>
            <a:off x="7379208"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Analyst review queue</a:t>
            </a:r>
            <a:endParaRPr lang="en-US" sz="1800" dirty="0"/>
          </a:p>
        </p:txBody>
      </p:sp>
      <p:sp>
        <p:nvSpPr>
          <p:cNvPr id="14" name="Shape 12"/>
          <p:cNvSpPr/>
          <p:nvPr/>
        </p:nvSpPr>
        <p:spPr>
          <a:xfrm>
            <a:off x="9473184" y="1883664"/>
            <a:ext cx="2011680" cy="841248"/>
          </a:xfrm>
          <a:prstGeom prst="rect">
            <a:avLst/>
          </a:prstGeom>
          <a:solidFill>
            <a:srgbClr val="FFFFFF"/>
          </a:solidFill>
          <a:ln w="12700">
            <a:solidFill>
              <a:srgbClr val="C8D4DB"/>
            </a:solidFill>
            <a:prstDash val="solid"/>
          </a:ln>
        </p:spPr>
      </p:sp>
      <p:sp>
        <p:nvSpPr>
          <p:cNvPr id="15" name="Text 13"/>
          <p:cNvSpPr/>
          <p:nvPr/>
        </p:nvSpPr>
        <p:spPr>
          <a:xfrm>
            <a:off x="9592056"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Case disposition</a:t>
            </a:r>
            <a:endParaRPr lang="en-US" sz="1800" dirty="0"/>
          </a:p>
        </p:txBody>
      </p:sp>
      <p:sp>
        <p:nvSpPr>
          <p:cNvPr id="16" name="Shape 14"/>
          <p:cNvSpPr/>
          <p:nvPr/>
        </p:nvSpPr>
        <p:spPr>
          <a:xfrm>
            <a:off x="2633472" y="2294230"/>
            <a:ext cx="182880" cy="20117"/>
          </a:xfrm>
          <a:prstGeom prst="rect">
            <a:avLst/>
          </a:prstGeom>
          <a:solidFill>
            <a:srgbClr val="087F8C"/>
          </a:solidFill>
          <a:ln w="12700">
            <a:solidFill>
              <a:srgbClr val="087F8C">
                <a:alpha val="0"/>
              </a:srgbClr>
            </a:solidFill>
            <a:prstDash val="solid"/>
          </a:ln>
        </p:spPr>
      </p:sp>
      <p:sp>
        <p:nvSpPr>
          <p:cNvPr id="17" name="Text 15"/>
          <p:cNvSpPr/>
          <p:nvPr/>
        </p:nvSpPr>
        <p:spPr>
          <a:xfrm>
            <a:off x="2711196" y="214426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18" name="Shape 16"/>
          <p:cNvSpPr/>
          <p:nvPr/>
        </p:nvSpPr>
        <p:spPr>
          <a:xfrm>
            <a:off x="4846320" y="2294230"/>
            <a:ext cx="182880" cy="20117"/>
          </a:xfrm>
          <a:prstGeom prst="rect">
            <a:avLst/>
          </a:prstGeom>
          <a:solidFill>
            <a:srgbClr val="087F8C"/>
          </a:solidFill>
          <a:ln w="12700">
            <a:solidFill>
              <a:srgbClr val="087F8C">
                <a:alpha val="0"/>
              </a:srgbClr>
            </a:solidFill>
            <a:prstDash val="solid"/>
          </a:ln>
        </p:spPr>
      </p:sp>
      <p:sp>
        <p:nvSpPr>
          <p:cNvPr id="19" name="Text 17"/>
          <p:cNvSpPr/>
          <p:nvPr/>
        </p:nvSpPr>
        <p:spPr>
          <a:xfrm>
            <a:off x="4924044" y="214426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0" name="Shape 18"/>
          <p:cNvSpPr/>
          <p:nvPr/>
        </p:nvSpPr>
        <p:spPr>
          <a:xfrm>
            <a:off x="7059168" y="2294230"/>
            <a:ext cx="182880" cy="20117"/>
          </a:xfrm>
          <a:prstGeom prst="rect">
            <a:avLst/>
          </a:prstGeom>
          <a:solidFill>
            <a:srgbClr val="087F8C"/>
          </a:solidFill>
          <a:ln w="12700">
            <a:solidFill>
              <a:srgbClr val="087F8C">
                <a:alpha val="0"/>
              </a:srgbClr>
            </a:solidFill>
            <a:prstDash val="solid"/>
          </a:ln>
        </p:spPr>
      </p:sp>
      <p:sp>
        <p:nvSpPr>
          <p:cNvPr id="21" name="Text 19"/>
          <p:cNvSpPr/>
          <p:nvPr/>
        </p:nvSpPr>
        <p:spPr>
          <a:xfrm>
            <a:off x="7136892" y="214426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2" name="Shape 20"/>
          <p:cNvSpPr/>
          <p:nvPr/>
        </p:nvSpPr>
        <p:spPr>
          <a:xfrm>
            <a:off x="9272016" y="2294230"/>
            <a:ext cx="182880" cy="20117"/>
          </a:xfrm>
          <a:prstGeom prst="rect">
            <a:avLst/>
          </a:prstGeom>
          <a:solidFill>
            <a:srgbClr val="087F8C"/>
          </a:solidFill>
          <a:ln w="12700">
            <a:solidFill>
              <a:srgbClr val="087F8C">
                <a:alpha val="0"/>
              </a:srgbClr>
            </a:solidFill>
            <a:prstDash val="solid"/>
          </a:ln>
        </p:spPr>
      </p:sp>
      <p:sp>
        <p:nvSpPr>
          <p:cNvPr id="23" name="Text 21"/>
          <p:cNvSpPr/>
          <p:nvPr/>
        </p:nvSpPr>
        <p:spPr>
          <a:xfrm>
            <a:off x="9349740" y="214426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4" name="Text 22"/>
          <p:cNvSpPr/>
          <p:nvPr/>
        </p:nvSpPr>
        <p:spPr>
          <a:xfrm>
            <a:off x="658368" y="3355848"/>
            <a:ext cx="3840480" cy="411480"/>
          </a:xfrm>
          <a:prstGeom prst="rect">
            <a:avLst/>
          </a:prstGeom>
          <a:noFill/>
          <a:ln/>
        </p:spPr>
        <p:txBody>
          <a:bodyPr wrap="square" lIns="0" tIns="0" rIns="0" bIns="0" rtlCol="0" anchor="ctr">
            <a:normAutofit/>
          </a:bodyPr>
          <a:lstStyle/>
          <a:p>
            <a:pPr indent="0" marL="0">
              <a:buNone/>
            </a:pPr>
            <a:r>
              <a:rPr lang="en-US" sz="2100" b="1" dirty="0">
                <a:solidFill>
                  <a:srgbClr val="0B1B2C"/>
                </a:solidFill>
                <a:latin typeface="Avenir Next" pitchFamily="34" charset="0"/>
                <a:ea typeface="Avenir Next" pitchFamily="34" charset="-122"/>
                <a:cs typeface="Avenir Next" pitchFamily="34" charset="-120"/>
              </a:rPr>
              <a:t>Where this works</a:t>
            </a:r>
            <a:endParaRPr lang="en-US" sz="2100" dirty="0"/>
          </a:p>
        </p:txBody>
      </p:sp>
      <p:sp>
        <p:nvSpPr>
          <p:cNvPr id="25" name="Text 23"/>
          <p:cNvSpPr/>
          <p:nvPr/>
        </p:nvSpPr>
        <p:spPr>
          <a:xfrm>
            <a:off x="658368" y="3840480"/>
            <a:ext cx="4846320" cy="950976"/>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Known typologies translate into readable conditions and repeatable controls.</a:t>
            </a:r>
            <a:endParaRPr lang="en-US" sz="1900" dirty="0"/>
          </a:p>
        </p:txBody>
      </p:sp>
      <p:sp>
        <p:nvSpPr>
          <p:cNvPr id="26" name="Text 24"/>
          <p:cNvSpPr/>
          <p:nvPr/>
        </p:nvSpPr>
        <p:spPr>
          <a:xfrm>
            <a:off x="6263640" y="3355848"/>
            <a:ext cx="3840480" cy="411480"/>
          </a:xfrm>
          <a:prstGeom prst="rect">
            <a:avLst/>
          </a:prstGeom>
          <a:noFill/>
          <a:ln/>
        </p:spPr>
        <p:txBody>
          <a:bodyPr wrap="square" lIns="0" tIns="0" rIns="0" bIns="0" rtlCol="0" anchor="ctr">
            <a:normAutofit/>
          </a:bodyPr>
          <a:lstStyle/>
          <a:p>
            <a:pPr indent="0" marL="0">
              <a:buNone/>
            </a:pPr>
            <a:r>
              <a:rPr lang="en-US" sz="2100" b="1" dirty="0">
                <a:solidFill>
                  <a:srgbClr val="0B1B2C"/>
                </a:solidFill>
                <a:latin typeface="Avenir Next" pitchFamily="34" charset="0"/>
                <a:ea typeface="Avenir Next" pitchFamily="34" charset="-122"/>
                <a:cs typeface="Avenir Next" pitchFamily="34" charset="-120"/>
              </a:rPr>
              <a:t>Where it strains</a:t>
            </a:r>
            <a:endParaRPr lang="en-US" sz="2100" dirty="0"/>
          </a:p>
        </p:txBody>
      </p:sp>
      <p:sp>
        <p:nvSpPr>
          <p:cNvPr id="27" name="Text 25"/>
          <p:cNvSpPr/>
          <p:nvPr/>
        </p:nvSpPr>
        <p:spPr>
          <a:xfrm>
            <a:off x="6263640" y="3840480"/>
            <a:ext cx="4846320" cy="950976"/>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Review capacity and rule coverage can diverge as transaction volume and behavior change.</a:t>
            </a:r>
            <a:endParaRPr lang="en-US" sz="1900" dirty="0"/>
          </a:p>
        </p:txBody>
      </p:sp>
      <p:sp>
        <p:nvSpPr>
          <p:cNvPr id="28" name="Text 26"/>
          <p:cNvSpPr/>
          <p:nvPr/>
        </p:nvSpPr>
        <p:spPr>
          <a:xfrm>
            <a:off x="685800" y="5833872"/>
            <a:ext cx="10789920" cy="36576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Bank example (2006): M&amp;T described rule-selected transactions and analyst review.</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Pattern 2: risk ranking of rule alerts</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BANK OPERATING PATTERNS</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05</a:t>
            </a:r>
            <a:endParaRPr lang="en-US" sz="1000" dirty="0"/>
          </a:p>
        </p:txBody>
      </p:sp>
      <p:sp>
        <p:nvSpPr>
          <p:cNvPr id="6" name="Shape 4"/>
          <p:cNvSpPr/>
          <p:nvPr/>
        </p:nvSpPr>
        <p:spPr>
          <a:xfrm>
            <a:off x="621792" y="1883664"/>
            <a:ext cx="2011680" cy="841248"/>
          </a:xfrm>
          <a:prstGeom prst="rect">
            <a:avLst/>
          </a:prstGeom>
          <a:solidFill>
            <a:srgbClr val="FFFFFF"/>
          </a:solidFill>
          <a:ln w="12700">
            <a:solidFill>
              <a:srgbClr val="C8D4DB"/>
            </a:solidFill>
            <a:prstDash val="solid"/>
          </a:ln>
        </p:spPr>
      </p:sp>
      <p:sp>
        <p:nvSpPr>
          <p:cNvPr id="7" name="Text 5"/>
          <p:cNvSpPr/>
          <p:nvPr/>
        </p:nvSpPr>
        <p:spPr>
          <a:xfrm>
            <a:off x="740664"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Transactions</a:t>
            </a:r>
            <a:endParaRPr lang="en-US" sz="1800" dirty="0"/>
          </a:p>
        </p:txBody>
      </p:sp>
      <p:sp>
        <p:nvSpPr>
          <p:cNvPr id="8" name="Shape 6"/>
          <p:cNvSpPr/>
          <p:nvPr/>
        </p:nvSpPr>
        <p:spPr>
          <a:xfrm>
            <a:off x="2834640" y="1883664"/>
            <a:ext cx="2011680" cy="841248"/>
          </a:xfrm>
          <a:prstGeom prst="rect">
            <a:avLst/>
          </a:prstGeom>
          <a:solidFill>
            <a:srgbClr val="E5F1F2"/>
          </a:solidFill>
          <a:ln w="12700">
            <a:solidFill>
              <a:srgbClr val="C8D4DB"/>
            </a:solidFill>
            <a:prstDash val="solid"/>
          </a:ln>
        </p:spPr>
      </p:sp>
      <p:sp>
        <p:nvSpPr>
          <p:cNvPr id="9" name="Text 7"/>
          <p:cNvSpPr/>
          <p:nvPr/>
        </p:nvSpPr>
        <p:spPr>
          <a:xfrm>
            <a:off x="2953512"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Rules</a:t>
            </a:r>
            <a:endParaRPr lang="en-US" sz="1800" dirty="0"/>
          </a:p>
        </p:txBody>
      </p:sp>
      <p:sp>
        <p:nvSpPr>
          <p:cNvPr id="10" name="Shape 8"/>
          <p:cNvSpPr/>
          <p:nvPr/>
        </p:nvSpPr>
        <p:spPr>
          <a:xfrm>
            <a:off x="5047488" y="1883664"/>
            <a:ext cx="2011680" cy="841248"/>
          </a:xfrm>
          <a:prstGeom prst="rect">
            <a:avLst/>
          </a:prstGeom>
          <a:solidFill>
            <a:srgbClr val="FFFFFF"/>
          </a:solidFill>
          <a:ln w="12700">
            <a:solidFill>
              <a:srgbClr val="C8D4DB"/>
            </a:solidFill>
            <a:prstDash val="solid"/>
          </a:ln>
        </p:spPr>
      </p:sp>
      <p:sp>
        <p:nvSpPr>
          <p:cNvPr id="11" name="Text 9"/>
          <p:cNvSpPr/>
          <p:nvPr/>
        </p:nvSpPr>
        <p:spPr>
          <a:xfrm>
            <a:off x="5166360"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Rule alerts</a:t>
            </a:r>
            <a:endParaRPr lang="en-US" sz="1800" dirty="0"/>
          </a:p>
        </p:txBody>
      </p:sp>
      <p:sp>
        <p:nvSpPr>
          <p:cNvPr id="12" name="Shape 10"/>
          <p:cNvSpPr/>
          <p:nvPr/>
        </p:nvSpPr>
        <p:spPr>
          <a:xfrm>
            <a:off x="7260336" y="1883664"/>
            <a:ext cx="2011680" cy="841248"/>
          </a:xfrm>
          <a:prstGeom prst="rect">
            <a:avLst/>
          </a:prstGeom>
          <a:solidFill>
            <a:srgbClr val="D9EBEE"/>
          </a:solidFill>
          <a:ln w="12700">
            <a:solidFill>
              <a:srgbClr val="C8D4DB"/>
            </a:solidFill>
            <a:prstDash val="solid"/>
          </a:ln>
        </p:spPr>
      </p:sp>
      <p:sp>
        <p:nvSpPr>
          <p:cNvPr id="13" name="Text 11"/>
          <p:cNvSpPr/>
          <p:nvPr/>
        </p:nvSpPr>
        <p:spPr>
          <a:xfrm>
            <a:off x="7379208"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Risk ranking model</a:t>
            </a:r>
            <a:endParaRPr lang="en-US" sz="1800" dirty="0"/>
          </a:p>
        </p:txBody>
      </p:sp>
      <p:sp>
        <p:nvSpPr>
          <p:cNvPr id="14" name="Shape 12"/>
          <p:cNvSpPr/>
          <p:nvPr/>
        </p:nvSpPr>
        <p:spPr>
          <a:xfrm>
            <a:off x="9473184" y="1883664"/>
            <a:ext cx="2011680" cy="841248"/>
          </a:xfrm>
          <a:prstGeom prst="rect">
            <a:avLst/>
          </a:prstGeom>
          <a:solidFill>
            <a:srgbClr val="FFFFFF"/>
          </a:solidFill>
          <a:ln w="12700">
            <a:solidFill>
              <a:srgbClr val="C8D4DB"/>
            </a:solidFill>
            <a:prstDash val="solid"/>
          </a:ln>
        </p:spPr>
      </p:sp>
      <p:sp>
        <p:nvSpPr>
          <p:cNvPr id="15" name="Text 13"/>
          <p:cNvSpPr/>
          <p:nvPr/>
        </p:nvSpPr>
        <p:spPr>
          <a:xfrm>
            <a:off x="9592056" y="1956816"/>
            <a:ext cx="1773936" cy="69494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Analyst review queue</a:t>
            </a:r>
            <a:endParaRPr lang="en-US" sz="1800" dirty="0"/>
          </a:p>
        </p:txBody>
      </p:sp>
      <p:sp>
        <p:nvSpPr>
          <p:cNvPr id="16" name="Shape 14"/>
          <p:cNvSpPr/>
          <p:nvPr/>
        </p:nvSpPr>
        <p:spPr>
          <a:xfrm>
            <a:off x="2633472" y="2294230"/>
            <a:ext cx="182880" cy="20117"/>
          </a:xfrm>
          <a:prstGeom prst="rect">
            <a:avLst/>
          </a:prstGeom>
          <a:solidFill>
            <a:srgbClr val="087F8C"/>
          </a:solidFill>
          <a:ln w="12700">
            <a:solidFill>
              <a:srgbClr val="087F8C">
                <a:alpha val="0"/>
              </a:srgbClr>
            </a:solidFill>
            <a:prstDash val="solid"/>
          </a:ln>
        </p:spPr>
      </p:sp>
      <p:sp>
        <p:nvSpPr>
          <p:cNvPr id="17" name="Text 15"/>
          <p:cNvSpPr/>
          <p:nvPr/>
        </p:nvSpPr>
        <p:spPr>
          <a:xfrm>
            <a:off x="2711196" y="214426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18" name="Shape 16"/>
          <p:cNvSpPr/>
          <p:nvPr/>
        </p:nvSpPr>
        <p:spPr>
          <a:xfrm>
            <a:off x="4846320" y="2294230"/>
            <a:ext cx="182880" cy="20117"/>
          </a:xfrm>
          <a:prstGeom prst="rect">
            <a:avLst/>
          </a:prstGeom>
          <a:solidFill>
            <a:srgbClr val="087F8C"/>
          </a:solidFill>
          <a:ln w="12700">
            <a:solidFill>
              <a:srgbClr val="087F8C">
                <a:alpha val="0"/>
              </a:srgbClr>
            </a:solidFill>
            <a:prstDash val="solid"/>
          </a:ln>
        </p:spPr>
      </p:sp>
      <p:sp>
        <p:nvSpPr>
          <p:cNvPr id="19" name="Text 17"/>
          <p:cNvSpPr/>
          <p:nvPr/>
        </p:nvSpPr>
        <p:spPr>
          <a:xfrm>
            <a:off x="4924044" y="214426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0" name="Shape 18"/>
          <p:cNvSpPr/>
          <p:nvPr/>
        </p:nvSpPr>
        <p:spPr>
          <a:xfrm>
            <a:off x="7059168" y="2294230"/>
            <a:ext cx="182880" cy="20117"/>
          </a:xfrm>
          <a:prstGeom prst="rect">
            <a:avLst/>
          </a:prstGeom>
          <a:solidFill>
            <a:srgbClr val="087F8C"/>
          </a:solidFill>
          <a:ln w="12700">
            <a:solidFill>
              <a:srgbClr val="087F8C">
                <a:alpha val="0"/>
              </a:srgbClr>
            </a:solidFill>
            <a:prstDash val="solid"/>
          </a:ln>
        </p:spPr>
      </p:sp>
      <p:sp>
        <p:nvSpPr>
          <p:cNvPr id="21" name="Text 19"/>
          <p:cNvSpPr/>
          <p:nvPr/>
        </p:nvSpPr>
        <p:spPr>
          <a:xfrm>
            <a:off x="7136892" y="214426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2" name="Shape 20"/>
          <p:cNvSpPr/>
          <p:nvPr/>
        </p:nvSpPr>
        <p:spPr>
          <a:xfrm>
            <a:off x="9272016" y="2294230"/>
            <a:ext cx="182880" cy="20117"/>
          </a:xfrm>
          <a:prstGeom prst="rect">
            <a:avLst/>
          </a:prstGeom>
          <a:solidFill>
            <a:srgbClr val="087F8C"/>
          </a:solidFill>
          <a:ln w="12700">
            <a:solidFill>
              <a:srgbClr val="087F8C">
                <a:alpha val="0"/>
              </a:srgbClr>
            </a:solidFill>
            <a:prstDash val="solid"/>
          </a:ln>
        </p:spPr>
      </p:sp>
      <p:sp>
        <p:nvSpPr>
          <p:cNvPr id="23" name="Text 21"/>
          <p:cNvSpPr/>
          <p:nvPr/>
        </p:nvSpPr>
        <p:spPr>
          <a:xfrm>
            <a:off x="9349740" y="214426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4" name="Text 22"/>
          <p:cNvSpPr/>
          <p:nvPr/>
        </p:nvSpPr>
        <p:spPr>
          <a:xfrm>
            <a:off x="685800" y="3337560"/>
            <a:ext cx="4297680" cy="475488"/>
          </a:xfrm>
          <a:prstGeom prst="rect">
            <a:avLst/>
          </a:prstGeom>
          <a:noFill/>
          <a:ln/>
        </p:spPr>
        <p:txBody>
          <a:bodyPr wrap="square" lIns="0" tIns="0" rIns="0" bIns="0" rtlCol="0" anchor="ctr">
            <a:normAutofit/>
          </a:bodyPr>
          <a:lstStyle/>
          <a:p>
            <a:pPr indent="0" marL="0">
              <a:buNone/>
            </a:pPr>
            <a:r>
              <a:rPr lang="en-US" sz="2300" b="1" dirty="0">
                <a:solidFill>
                  <a:srgbClr val="A96132"/>
                </a:solidFill>
                <a:latin typeface="Avenir Next" pitchFamily="34" charset="0"/>
                <a:ea typeface="Avenir Next" pitchFamily="34" charset="-122"/>
                <a:cs typeface="Avenir Next" pitchFamily="34" charset="-120"/>
              </a:rPr>
              <a:t>The recall ceiling</a:t>
            </a:r>
            <a:endParaRPr lang="en-US" sz="2300" dirty="0"/>
          </a:p>
        </p:txBody>
      </p:sp>
      <p:sp>
        <p:nvSpPr>
          <p:cNvPr id="25" name="Text 23"/>
          <p:cNvSpPr/>
          <p:nvPr/>
        </p:nvSpPr>
        <p:spPr>
          <a:xfrm>
            <a:off x="685800" y="3886200"/>
            <a:ext cx="10607040" cy="804672"/>
          </a:xfrm>
          <a:prstGeom prst="rect">
            <a:avLst/>
          </a:prstGeom>
          <a:noFill/>
          <a:ln/>
        </p:spPr>
        <p:txBody>
          <a:bodyPr wrap="square" lIns="0" tIns="0" rIns="0" bIns="0" rtlCol="0" anchor="ctr">
            <a:normAutofit/>
          </a:bodyPr>
          <a:lstStyle/>
          <a:p>
            <a:pPr indent="0" marL="0">
              <a:buNone/>
            </a:pPr>
            <a:r>
              <a:rPr lang="en-US" sz="2200" dirty="0">
                <a:solidFill>
                  <a:srgbClr val="162536"/>
                </a:solidFill>
                <a:latin typeface="Avenir Next" pitchFamily="34" charset="0"/>
                <a:ea typeface="Avenir Next" pitchFamily="34" charset="-122"/>
                <a:cs typeface="Avenir Next" pitchFamily="34" charset="-120"/>
              </a:rPr>
              <a:t>Because it scores only rule alerts, the model cannot recover a transaction the rules never surfaced.</a:t>
            </a:r>
            <a:endParaRPr lang="en-US" sz="2200" dirty="0"/>
          </a:p>
        </p:txBody>
      </p:sp>
      <p:sp>
        <p:nvSpPr>
          <p:cNvPr id="26" name="Text 24"/>
          <p:cNvSpPr/>
          <p:nvPr/>
        </p:nvSpPr>
        <p:spPr>
          <a:xfrm>
            <a:off x="685800" y="5047488"/>
            <a:ext cx="10332720" cy="621792"/>
          </a:xfrm>
          <a:prstGeom prst="rect">
            <a:avLst/>
          </a:prstGeom>
          <a:noFill/>
          <a:ln/>
        </p:spPr>
        <p:txBody>
          <a:bodyPr wrap="square" lIns="0" tIns="0" rIns="0" bIns="0" rtlCol="0" anchor="ctr">
            <a:normAutofit/>
          </a:bodyPr>
          <a:lstStyle/>
          <a:p>
            <a:pPr indent="0" marL="0">
              <a:buNone/>
            </a:pPr>
            <a:r>
              <a:rPr lang="en-US" sz="2000" b="1" dirty="0">
                <a:solidFill>
                  <a:srgbClr val="087F8C"/>
                </a:solidFill>
                <a:latin typeface="Avenir Next" pitchFamily="34" charset="0"/>
                <a:ea typeface="Avenir Next" pitchFamily="34" charset="-122"/>
                <a:cs typeface="Avenir Next" pitchFamily="34" charset="-120"/>
              </a:rPr>
              <a:t>For a fixed labeled population, model recall cannot exceed rule recall.</a:t>
            </a:r>
            <a:endParaRPr lang="en-US" sz="2000" dirty="0"/>
          </a:p>
        </p:txBody>
      </p:sp>
      <p:sp>
        <p:nvSpPr>
          <p:cNvPr id="27" name="Text 25"/>
          <p:cNvSpPr/>
          <p:nvPr/>
        </p:nvSpPr>
        <p:spPr>
          <a:xfrm>
            <a:off x="685800" y="5833872"/>
            <a:ext cx="10789920" cy="36576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Bank example (2020): Capital One used a random forest to rank AML alerts.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Pattern 3: parallel data science detection</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BANK OPERATING PATTERNS</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06</a:t>
            </a:r>
            <a:endParaRPr lang="en-US" sz="1000" dirty="0"/>
          </a:p>
        </p:txBody>
      </p:sp>
      <p:sp>
        <p:nvSpPr>
          <p:cNvPr id="6" name="Shape 4"/>
          <p:cNvSpPr/>
          <p:nvPr/>
        </p:nvSpPr>
        <p:spPr>
          <a:xfrm>
            <a:off x="640080" y="2176272"/>
            <a:ext cx="2011680" cy="868680"/>
          </a:xfrm>
          <a:prstGeom prst="rect">
            <a:avLst/>
          </a:prstGeom>
          <a:solidFill>
            <a:srgbClr val="FFFFFF"/>
          </a:solidFill>
          <a:ln w="12700">
            <a:solidFill>
              <a:srgbClr val="C8D4DB"/>
            </a:solidFill>
            <a:prstDash val="solid"/>
          </a:ln>
        </p:spPr>
      </p:sp>
      <p:sp>
        <p:nvSpPr>
          <p:cNvPr id="7" name="Text 5"/>
          <p:cNvSpPr/>
          <p:nvPr/>
        </p:nvSpPr>
        <p:spPr>
          <a:xfrm>
            <a:off x="758952" y="2249424"/>
            <a:ext cx="1773936" cy="722376"/>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Transactions</a:t>
            </a:r>
            <a:endParaRPr lang="en-US" sz="1800" dirty="0"/>
          </a:p>
        </p:txBody>
      </p:sp>
      <p:sp>
        <p:nvSpPr>
          <p:cNvPr id="8" name="Shape 6"/>
          <p:cNvSpPr/>
          <p:nvPr/>
        </p:nvSpPr>
        <p:spPr>
          <a:xfrm>
            <a:off x="3291840" y="1581912"/>
            <a:ext cx="2084832" cy="804672"/>
          </a:xfrm>
          <a:prstGeom prst="rect">
            <a:avLst/>
          </a:prstGeom>
          <a:solidFill>
            <a:srgbClr val="E5F1F2"/>
          </a:solidFill>
          <a:ln w="12700">
            <a:solidFill>
              <a:srgbClr val="C8D4DB"/>
            </a:solidFill>
            <a:prstDash val="solid"/>
          </a:ln>
        </p:spPr>
      </p:sp>
      <p:sp>
        <p:nvSpPr>
          <p:cNvPr id="9" name="Text 7"/>
          <p:cNvSpPr/>
          <p:nvPr/>
        </p:nvSpPr>
        <p:spPr>
          <a:xfrm>
            <a:off x="3410712" y="1655064"/>
            <a:ext cx="1847088" cy="658368"/>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Rules alerts</a:t>
            </a:r>
            <a:endParaRPr lang="en-US" sz="1800" dirty="0"/>
          </a:p>
        </p:txBody>
      </p:sp>
      <p:sp>
        <p:nvSpPr>
          <p:cNvPr id="10" name="Shape 8"/>
          <p:cNvSpPr/>
          <p:nvPr/>
        </p:nvSpPr>
        <p:spPr>
          <a:xfrm>
            <a:off x="3291840" y="2926080"/>
            <a:ext cx="2331720" cy="804672"/>
          </a:xfrm>
          <a:prstGeom prst="rect">
            <a:avLst/>
          </a:prstGeom>
          <a:solidFill>
            <a:srgbClr val="E5F1F2"/>
          </a:solidFill>
          <a:ln w="12700">
            <a:solidFill>
              <a:srgbClr val="C8D4DB"/>
            </a:solidFill>
            <a:prstDash val="solid"/>
          </a:ln>
        </p:spPr>
      </p:sp>
      <p:sp>
        <p:nvSpPr>
          <p:cNvPr id="11" name="Text 9"/>
          <p:cNvSpPr/>
          <p:nvPr/>
        </p:nvSpPr>
        <p:spPr>
          <a:xfrm>
            <a:off x="3410712" y="2999232"/>
            <a:ext cx="2093976" cy="658368"/>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ML Model alerts</a:t>
            </a:r>
            <a:endParaRPr lang="en-US" sz="1800" dirty="0"/>
          </a:p>
        </p:txBody>
      </p:sp>
      <p:sp>
        <p:nvSpPr>
          <p:cNvPr id="12" name="Shape 10"/>
          <p:cNvSpPr/>
          <p:nvPr/>
        </p:nvSpPr>
        <p:spPr>
          <a:xfrm>
            <a:off x="6492240" y="2176272"/>
            <a:ext cx="2103120" cy="868680"/>
          </a:xfrm>
          <a:prstGeom prst="rect">
            <a:avLst/>
          </a:prstGeom>
          <a:solidFill>
            <a:srgbClr val="FFFFFF"/>
          </a:solidFill>
          <a:ln w="12700">
            <a:solidFill>
              <a:srgbClr val="C8D4DB"/>
            </a:solidFill>
            <a:prstDash val="solid"/>
          </a:ln>
        </p:spPr>
      </p:sp>
      <p:sp>
        <p:nvSpPr>
          <p:cNvPr id="13" name="Text 11"/>
          <p:cNvSpPr/>
          <p:nvPr/>
        </p:nvSpPr>
        <p:spPr>
          <a:xfrm>
            <a:off x="6611112" y="2249424"/>
            <a:ext cx="1865376" cy="722376"/>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Deduplicate alerts</a:t>
            </a:r>
            <a:endParaRPr lang="en-US" sz="1800" dirty="0"/>
          </a:p>
        </p:txBody>
      </p:sp>
      <p:sp>
        <p:nvSpPr>
          <p:cNvPr id="14" name="Shape 12"/>
          <p:cNvSpPr/>
          <p:nvPr/>
        </p:nvSpPr>
        <p:spPr>
          <a:xfrm>
            <a:off x="9372600" y="2176272"/>
            <a:ext cx="2103120" cy="868680"/>
          </a:xfrm>
          <a:prstGeom prst="rect">
            <a:avLst/>
          </a:prstGeom>
          <a:solidFill>
            <a:srgbClr val="FFFFFF"/>
          </a:solidFill>
          <a:ln w="12700">
            <a:solidFill>
              <a:srgbClr val="C8D4DB"/>
            </a:solidFill>
            <a:prstDash val="solid"/>
          </a:ln>
        </p:spPr>
      </p:sp>
      <p:sp>
        <p:nvSpPr>
          <p:cNvPr id="15" name="Text 13"/>
          <p:cNvSpPr/>
          <p:nvPr/>
        </p:nvSpPr>
        <p:spPr>
          <a:xfrm>
            <a:off x="9491472" y="2249424"/>
            <a:ext cx="1865376" cy="722376"/>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Analyst review queue</a:t>
            </a:r>
            <a:endParaRPr lang="en-US" sz="1800" dirty="0"/>
          </a:p>
        </p:txBody>
      </p:sp>
      <p:sp>
        <p:nvSpPr>
          <p:cNvPr id="16" name="Shape 14"/>
          <p:cNvSpPr/>
          <p:nvPr/>
        </p:nvSpPr>
        <p:spPr>
          <a:xfrm rot="-2113056">
            <a:off x="2582107" y="2193646"/>
            <a:ext cx="761097" cy="20117"/>
          </a:xfrm>
          <a:prstGeom prst="rect">
            <a:avLst/>
          </a:prstGeom>
          <a:solidFill>
            <a:srgbClr val="087F8C"/>
          </a:solidFill>
          <a:ln w="12700">
            <a:solidFill>
              <a:srgbClr val="087F8C">
                <a:alpha val="0"/>
              </a:srgbClr>
            </a:solidFill>
            <a:prstDash val="solid"/>
          </a:ln>
        </p:spPr>
      </p:sp>
      <p:sp>
        <p:nvSpPr>
          <p:cNvPr id="17" name="Text 15"/>
          <p:cNvSpPr/>
          <p:nvPr/>
        </p:nvSpPr>
        <p:spPr>
          <a:xfrm>
            <a:off x="3168396" y="182422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18" name="Shape 16"/>
          <p:cNvSpPr/>
          <p:nvPr/>
        </p:nvSpPr>
        <p:spPr>
          <a:xfrm rot="2398256">
            <a:off x="2556983" y="3039466"/>
            <a:ext cx="811346" cy="20117"/>
          </a:xfrm>
          <a:prstGeom prst="rect">
            <a:avLst/>
          </a:prstGeom>
          <a:solidFill>
            <a:srgbClr val="087F8C"/>
          </a:solidFill>
          <a:ln w="12700">
            <a:solidFill>
              <a:srgbClr val="087F8C">
                <a:alpha val="0"/>
              </a:srgbClr>
            </a:solidFill>
            <a:prstDash val="solid"/>
          </a:ln>
        </p:spPr>
      </p:sp>
      <p:sp>
        <p:nvSpPr>
          <p:cNvPr id="19" name="Text 17"/>
          <p:cNvSpPr/>
          <p:nvPr/>
        </p:nvSpPr>
        <p:spPr>
          <a:xfrm>
            <a:off x="3168396" y="315010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0" name="Shape 18"/>
          <p:cNvSpPr/>
          <p:nvPr/>
        </p:nvSpPr>
        <p:spPr>
          <a:xfrm rot="1308085">
            <a:off x="5334409" y="2193646"/>
            <a:ext cx="1181807" cy="20117"/>
          </a:xfrm>
          <a:prstGeom prst="rect">
            <a:avLst/>
          </a:prstGeom>
          <a:solidFill>
            <a:srgbClr val="087F8C"/>
          </a:solidFill>
          <a:ln w="12700">
            <a:solidFill>
              <a:srgbClr val="087F8C">
                <a:alpha val="0"/>
              </a:srgbClr>
            </a:solidFill>
            <a:prstDash val="solid"/>
          </a:ln>
        </p:spPr>
      </p:sp>
      <p:sp>
        <p:nvSpPr>
          <p:cNvPr id="21" name="Text 19"/>
          <p:cNvSpPr/>
          <p:nvPr/>
        </p:nvSpPr>
        <p:spPr>
          <a:xfrm>
            <a:off x="6368796" y="2263140"/>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2" name="Shape 20"/>
          <p:cNvSpPr/>
          <p:nvPr/>
        </p:nvSpPr>
        <p:spPr>
          <a:xfrm rot="-1890256">
            <a:off x="5550052" y="3039466"/>
            <a:ext cx="997409" cy="20117"/>
          </a:xfrm>
          <a:prstGeom prst="rect">
            <a:avLst/>
          </a:prstGeom>
          <a:solidFill>
            <a:srgbClr val="087F8C"/>
          </a:solidFill>
          <a:ln w="12700">
            <a:solidFill>
              <a:srgbClr val="087F8C">
                <a:alpha val="0"/>
              </a:srgbClr>
            </a:solidFill>
            <a:prstDash val="solid"/>
          </a:ln>
        </p:spPr>
      </p:sp>
      <p:sp>
        <p:nvSpPr>
          <p:cNvPr id="23" name="Text 21"/>
          <p:cNvSpPr/>
          <p:nvPr/>
        </p:nvSpPr>
        <p:spPr>
          <a:xfrm>
            <a:off x="6368796" y="2628900"/>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4" name="Shape 22"/>
          <p:cNvSpPr/>
          <p:nvPr/>
        </p:nvSpPr>
        <p:spPr>
          <a:xfrm>
            <a:off x="8595360" y="2595982"/>
            <a:ext cx="749808" cy="20117"/>
          </a:xfrm>
          <a:prstGeom prst="rect">
            <a:avLst/>
          </a:prstGeom>
          <a:solidFill>
            <a:srgbClr val="087F8C"/>
          </a:solidFill>
          <a:ln w="12700">
            <a:solidFill>
              <a:srgbClr val="087F8C">
                <a:alpha val="0"/>
              </a:srgbClr>
            </a:solidFill>
            <a:prstDash val="solid"/>
          </a:ln>
        </p:spPr>
      </p:sp>
      <p:sp>
        <p:nvSpPr>
          <p:cNvPr id="25" name="Text 23"/>
          <p:cNvSpPr/>
          <p:nvPr/>
        </p:nvSpPr>
        <p:spPr>
          <a:xfrm>
            <a:off x="9240012" y="2446020"/>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6" name="Text 24"/>
          <p:cNvSpPr/>
          <p:nvPr/>
        </p:nvSpPr>
        <p:spPr>
          <a:xfrm>
            <a:off x="658368" y="4343400"/>
            <a:ext cx="2926080" cy="457200"/>
          </a:xfrm>
          <a:prstGeom prst="rect">
            <a:avLst/>
          </a:prstGeom>
          <a:noFill/>
          <a:ln/>
        </p:spPr>
        <p:txBody>
          <a:bodyPr wrap="square" lIns="0" tIns="0" rIns="0" bIns="0" rtlCol="0" anchor="ctr">
            <a:normAutofit/>
          </a:bodyPr>
          <a:lstStyle/>
          <a:p>
            <a:pPr indent="0" marL="0">
              <a:buNone/>
            </a:pPr>
            <a:r>
              <a:rPr lang="en-US" sz="2100" b="1" dirty="0">
                <a:solidFill>
                  <a:srgbClr val="0B1B2C"/>
                </a:solidFill>
                <a:latin typeface="Avenir Next" pitchFamily="34" charset="0"/>
                <a:ea typeface="Avenir Next" pitchFamily="34" charset="-122"/>
                <a:cs typeface="Avenir Next" pitchFamily="34" charset="-120"/>
              </a:rPr>
              <a:t>What changes</a:t>
            </a:r>
            <a:endParaRPr lang="en-US" sz="2100" dirty="0"/>
          </a:p>
        </p:txBody>
      </p:sp>
      <p:sp>
        <p:nvSpPr>
          <p:cNvPr id="27" name="Text 25"/>
          <p:cNvSpPr/>
          <p:nvPr/>
        </p:nvSpPr>
        <p:spPr>
          <a:xfrm>
            <a:off x="658368" y="4837176"/>
            <a:ext cx="10789920" cy="786384"/>
          </a:xfrm>
          <a:prstGeom prst="rect">
            <a:avLst/>
          </a:prstGeom>
          <a:noFill/>
          <a:ln/>
        </p:spPr>
        <p:txBody>
          <a:bodyPr wrap="square" lIns="0" tIns="0" rIns="0" bIns="0" rtlCol="0" anchor="ctr">
            <a:normAutofit/>
          </a:bodyPr>
          <a:lstStyle/>
          <a:p>
            <a:pPr indent="0" marL="0">
              <a:buNone/>
            </a:pPr>
            <a:r>
              <a:rPr lang="en-US" sz="2000" dirty="0">
                <a:solidFill>
                  <a:srgbClr val="162536"/>
                </a:solidFill>
                <a:latin typeface="Avenir Next" pitchFamily="34" charset="0"/>
                <a:ea typeface="Avenir Next" pitchFamily="34" charset="-122"/>
                <a:cs typeface="Avenir Next" pitchFamily="34" charset="-120"/>
              </a:rPr>
              <a:t>The DS track can find candidates outside the rules. The bank must measure unique catches and the new workload after deduplication.</a:t>
            </a:r>
            <a:endParaRPr lang="en-US" sz="2000" dirty="0"/>
          </a:p>
        </p:txBody>
      </p:sp>
      <p:sp>
        <p:nvSpPr>
          <p:cNvPr id="28" name="Text 26"/>
          <p:cNvSpPr/>
          <p:nvPr/>
        </p:nvSpPr>
        <p:spPr>
          <a:xfrm>
            <a:off x="685800" y="5833872"/>
            <a:ext cx="10789920" cy="365760"/>
          </a:xfrm>
          <a:prstGeom prst="rect">
            <a:avLst/>
          </a:prstGeom>
          <a:noFill/>
          <a:ln/>
        </p:spPr>
        <p:txBody>
          <a:bodyPr wrap="square" lIns="0" tIns="0" rIns="0" bIns="0" rtlCol="0" anchor="ctr">
            <a:normAutofit/>
          </a:bodyPr>
          <a:lstStyle/>
          <a:p>
            <a:pPr indent="0" marL="0">
              <a:buNone/>
            </a:pPr>
            <a:r>
              <a:rPr lang="en-US" sz="1700" dirty="0">
                <a:solidFill>
                  <a:srgbClr val="526577"/>
                </a:solidFill>
                <a:latin typeface="Avenir Next" pitchFamily="34" charset="0"/>
                <a:ea typeface="Avenir Next" pitchFamily="34" charset="-122"/>
                <a:cs typeface="Avenir Next" pitchFamily="34" charset="-120"/>
              </a:rPr>
              <a:t>Bank examples: ING reported live anomaly detection; OCBC planned a parallel pilot.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Pattern 4: ML triage of consolidated alerts</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BANK OPERATING PATTERNS</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07</a:t>
            </a:r>
            <a:endParaRPr lang="en-US" sz="1000" dirty="0"/>
          </a:p>
        </p:txBody>
      </p:sp>
      <p:sp>
        <p:nvSpPr>
          <p:cNvPr id="6" name="Shape 4"/>
          <p:cNvSpPr/>
          <p:nvPr/>
        </p:nvSpPr>
        <p:spPr>
          <a:xfrm>
            <a:off x="548640" y="2697480"/>
            <a:ext cx="1920240" cy="914400"/>
          </a:xfrm>
          <a:prstGeom prst="rect">
            <a:avLst/>
          </a:prstGeom>
          <a:solidFill>
            <a:srgbClr val="FFFFFF"/>
          </a:solidFill>
          <a:ln w="12700">
            <a:solidFill>
              <a:srgbClr val="C8D4DB"/>
            </a:solidFill>
            <a:prstDash val="solid"/>
          </a:ln>
        </p:spPr>
      </p:sp>
      <p:sp>
        <p:nvSpPr>
          <p:cNvPr id="7" name="Text 5"/>
          <p:cNvSpPr/>
          <p:nvPr/>
        </p:nvSpPr>
        <p:spPr>
          <a:xfrm>
            <a:off x="667512" y="2770632"/>
            <a:ext cx="1682496" cy="768096"/>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Transactions</a:t>
            </a:r>
            <a:endParaRPr lang="en-US" sz="1800" dirty="0"/>
          </a:p>
        </p:txBody>
      </p:sp>
      <p:sp>
        <p:nvSpPr>
          <p:cNvPr id="8" name="Shape 6"/>
          <p:cNvSpPr/>
          <p:nvPr/>
        </p:nvSpPr>
        <p:spPr>
          <a:xfrm>
            <a:off x="2880360" y="1554480"/>
            <a:ext cx="2148840" cy="914400"/>
          </a:xfrm>
          <a:prstGeom prst="rect">
            <a:avLst/>
          </a:prstGeom>
          <a:solidFill>
            <a:srgbClr val="E5F1F2"/>
          </a:solidFill>
          <a:ln w="12700">
            <a:solidFill>
              <a:srgbClr val="C8D4DB"/>
            </a:solidFill>
            <a:prstDash val="solid"/>
          </a:ln>
        </p:spPr>
      </p:sp>
      <p:sp>
        <p:nvSpPr>
          <p:cNvPr id="9" name="Text 7"/>
          <p:cNvSpPr/>
          <p:nvPr/>
        </p:nvSpPr>
        <p:spPr>
          <a:xfrm>
            <a:off x="2999232" y="1627632"/>
            <a:ext cx="1911096" cy="768096"/>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Rules alerts</a:t>
            </a:r>
            <a:endParaRPr lang="en-US" sz="1800" dirty="0"/>
          </a:p>
        </p:txBody>
      </p:sp>
      <p:sp>
        <p:nvSpPr>
          <p:cNvPr id="10" name="Shape 8"/>
          <p:cNvSpPr/>
          <p:nvPr/>
        </p:nvSpPr>
        <p:spPr>
          <a:xfrm>
            <a:off x="2880360" y="3840480"/>
            <a:ext cx="2148840" cy="914400"/>
          </a:xfrm>
          <a:prstGeom prst="rect">
            <a:avLst/>
          </a:prstGeom>
          <a:solidFill>
            <a:srgbClr val="E5F1F2"/>
          </a:solidFill>
          <a:ln w="12700">
            <a:solidFill>
              <a:srgbClr val="C8D4DB"/>
            </a:solidFill>
            <a:prstDash val="solid"/>
          </a:ln>
        </p:spPr>
      </p:sp>
      <p:sp>
        <p:nvSpPr>
          <p:cNvPr id="11" name="Text 9"/>
          <p:cNvSpPr/>
          <p:nvPr/>
        </p:nvSpPr>
        <p:spPr>
          <a:xfrm>
            <a:off x="2999232" y="3913632"/>
            <a:ext cx="1911096" cy="768096"/>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ML Model alerts</a:t>
            </a:r>
            <a:endParaRPr lang="en-US" sz="1800" dirty="0"/>
          </a:p>
        </p:txBody>
      </p:sp>
      <p:sp>
        <p:nvSpPr>
          <p:cNvPr id="12" name="Shape 10"/>
          <p:cNvSpPr/>
          <p:nvPr/>
        </p:nvSpPr>
        <p:spPr>
          <a:xfrm>
            <a:off x="5394960" y="2697480"/>
            <a:ext cx="2057400" cy="914400"/>
          </a:xfrm>
          <a:prstGeom prst="rect">
            <a:avLst/>
          </a:prstGeom>
          <a:solidFill>
            <a:srgbClr val="FFFFFF"/>
          </a:solidFill>
          <a:ln w="12700">
            <a:solidFill>
              <a:srgbClr val="C8D4DB"/>
            </a:solidFill>
            <a:prstDash val="solid"/>
          </a:ln>
        </p:spPr>
      </p:sp>
      <p:sp>
        <p:nvSpPr>
          <p:cNvPr id="13" name="Text 11"/>
          <p:cNvSpPr/>
          <p:nvPr/>
        </p:nvSpPr>
        <p:spPr>
          <a:xfrm>
            <a:off x="5513832" y="2770632"/>
            <a:ext cx="1819656" cy="768096"/>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Consolidated alerts</a:t>
            </a:r>
            <a:endParaRPr lang="en-US" sz="1800" dirty="0"/>
          </a:p>
        </p:txBody>
      </p:sp>
      <p:sp>
        <p:nvSpPr>
          <p:cNvPr id="14" name="Shape 12"/>
          <p:cNvSpPr/>
          <p:nvPr/>
        </p:nvSpPr>
        <p:spPr>
          <a:xfrm>
            <a:off x="7754112" y="2697480"/>
            <a:ext cx="1920240" cy="914400"/>
          </a:xfrm>
          <a:prstGeom prst="rect">
            <a:avLst/>
          </a:prstGeom>
          <a:solidFill>
            <a:srgbClr val="D9EBEE"/>
          </a:solidFill>
          <a:ln w="12700">
            <a:solidFill>
              <a:srgbClr val="C8D4DB"/>
            </a:solidFill>
            <a:prstDash val="solid"/>
          </a:ln>
        </p:spPr>
      </p:sp>
      <p:sp>
        <p:nvSpPr>
          <p:cNvPr id="15" name="Text 13"/>
          <p:cNvSpPr/>
          <p:nvPr/>
        </p:nvSpPr>
        <p:spPr>
          <a:xfrm>
            <a:off x="7872984" y="2770632"/>
            <a:ext cx="1682496" cy="768096"/>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ML triage score</a:t>
            </a:r>
            <a:endParaRPr lang="en-US" sz="1800" dirty="0"/>
          </a:p>
        </p:txBody>
      </p:sp>
      <p:sp>
        <p:nvSpPr>
          <p:cNvPr id="16" name="Shape 14"/>
          <p:cNvSpPr/>
          <p:nvPr/>
        </p:nvSpPr>
        <p:spPr>
          <a:xfrm>
            <a:off x="9948672" y="2697480"/>
            <a:ext cx="2057400" cy="914400"/>
          </a:xfrm>
          <a:prstGeom prst="rect">
            <a:avLst/>
          </a:prstGeom>
          <a:solidFill>
            <a:srgbClr val="FFFFFF"/>
          </a:solidFill>
          <a:ln w="12700">
            <a:solidFill>
              <a:srgbClr val="C8D4DB"/>
            </a:solidFill>
            <a:prstDash val="solid"/>
          </a:ln>
        </p:spPr>
      </p:sp>
      <p:sp>
        <p:nvSpPr>
          <p:cNvPr id="17" name="Text 15"/>
          <p:cNvSpPr/>
          <p:nvPr/>
        </p:nvSpPr>
        <p:spPr>
          <a:xfrm>
            <a:off x="10067544" y="2770632"/>
            <a:ext cx="1819656" cy="768096"/>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Analyst review queue</a:t>
            </a:r>
            <a:endParaRPr lang="en-US" sz="1800" dirty="0"/>
          </a:p>
        </p:txBody>
      </p:sp>
      <p:sp>
        <p:nvSpPr>
          <p:cNvPr id="18" name="Shape 16"/>
          <p:cNvSpPr/>
          <p:nvPr/>
        </p:nvSpPr>
        <p:spPr>
          <a:xfrm>
            <a:off x="2468880" y="3145627"/>
            <a:ext cx="182880" cy="18105"/>
          </a:xfrm>
          <a:prstGeom prst="rect">
            <a:avLst/>
          </a:prstGeom>
          <a:solidFill>
            <a:srgbClr val="087F8C"/>
          </a:solidFill>
          <a:ln w="12700">
            <a:solidFill>
              <a:srgbClr val="087F8C">
                <a:alpha val="0"/>
              </a:srgbClr>
            </a:solidFill>
            <a:prstDash val="solid"/>
          </a:ln>
        </p:spPr>
      </p:sp>
      <p:sp>
        <p:nvSpPr>
          <p:cNvPr id="19" name="Shape 17"/>
          <p:cNvSpPr/>
          <p:nvPr/>
        </p:nvSpPr>
        <p:spPr>
          <a:xfrm>
            <a:off x="2642707" y="2011680"/>
            <a:ext cx="18105" cy="2286000"/>
          </a:xfrm>
          <a:prstGeom prst="rect">
            <a:avLst/>
          </a:prstGeom>
          <a:solidFill>
            <a:srgbClr val="087F8C"/>
          </a:solidFill>
          <a:ln w="12700">
            <a:solidFill>
              <a:srgbClr val="087F8C">
                <a:alpha val="0"/>
              </a:srgbClr>
            </a:solidFill>
            <a:prstDash val="solid"/>
          </a:ln>
        </p:spPr>
      </p:sp>
      <p:sp>
        <p:nvSpPr>
          <p:cNvPr id="20" name="Shape 18"/>
          <p:cNvSpPr/>
          <p:nvPr/>
        </p:nvSpPr>
        <p:spPr>
          <a:xfrm>
            <a:off x="2651760" y="2002627"/>
            <a:ext cx="210312" cy="18105"/>
          </a:xfrm>
          <a:prstGeom prst="rect">
            <a:avLst/>
          </a:prstGeom>
          <a:solidFill>
            <a:srgbClr val="087F8C"/>
          </a:solidFill>
          <a:ln w="12700">
            <a:solidFill>
              <a:srgbClr val="087F8C">
                <a:alpha val="0"/>
              </a:srgbClr>
            </a:solidFill>
            <a:prstDash val="solid"/>
          </a:ln>
        </p:spPr>
      </p:sp>
      <p:sp>
        <p:nvSpPr>
          <p:cNvPr id="21" name="Text 19"/>
          <p:cNvSpPr/>
          <p:nvPr/>
        </p:nvSpPr>
        <p:spPr>
          <a:xfrm>
            <a:off x="2756916" y="1851660"/>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2" name="Shape 20"/>
          <p:cNvSpPr/>
          <p:nvPr/>
        </p:nvSpPr>
        <p:spPr>
          <a:xfrm>
            <a:off x="2651760" y="4288627"/>
            <a:ext cx="210312" cy="18105"/>
          </a:xfrm>
          <a:prstGeom prst="rect">
            <a:avLst/>
          </a:prstGeom>
          <a:solidFill>
            <a:srgbClr val="087F8C"/>
          </a:solidFill>
          <a:ln w="12700">
            <a:solidFill>
              <a:srgbClr val="087F8C">
                <a:alpha val="0"/>
              </a:srgbClr>
            </a:solidFill>
            <a:prstDash val="solid"/>
          </a:ln>
        </p:spPr>
      </p:sp>
      <p:sp>
        <p:nvSpPr>
          <p:cNvPr id="23" name="Text 21"/>
          <p:cNvSpPr/>
          <p:nvPr/>
        </p:nvSpPr>
        <p:spPr>
          <a:xfrm>
            <a:off x="2756916" y="4137660"/>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4" name="Shape 22"/>
          <p:cNvSpPr/>
          <p:nvPr/>
        </p:nvSpPr>
        <p:spPr>
          <a:xfrm>
            <a:off x="5029200" y="2002627"/>
            <a:ext cx="182880" cy="18105"/>
          </a:xfrm>
          <a:prstGeom prst="rect">
            <a:avLst/>
          </a:prstGeom>
          <a:solidFill>
            <a:srgbClr val="087F8C"/>
          </a:solidFill>
          <a:ln w="12700">
            <a:solidFill>
              <a:srgbClr val="087F8C">
                <a:alpha val="0"/>
              </a:srgbClr>
            </a:solidFill>
            <a:prstDash val="solid"/>
          </a:ln>
        </p:spPr>
      </p:sp>
      <p:sp>
        <p:nvSpPr>
          <p:cNvPr id="25" name="Shape 23"/>
          <p:cNvSpPr/>
          <p:nvPr/>
        </p:nvSpPr>
        <p:spPr>
          <a:xfrm>
            <a:off x="5029200" y="4288627"/>
            <a:ext cx="182880" cy="18105"/>
          </a:xfrm>
          <a:prstGeom prst="rect">
            <a:avLst/>
          </a:prstGeom>
          <a:solidFill>
            <a:srgbClr val="087F8C"/>
          </a:solidFill>
          <a:ln w="12700">
            <a:solidFill>
              <a:srgbClr val="087F8C">
                <a:alpha val="0"/>
              </a:srgbClr>
            </a:solidFill>
            <a:prstDash val="solid"/>
          </a:ln>
        </p:spPr>
      </p:sp>
      <p:sp>
        <p:nvSpPr>
          <p:cNvPr id="26" name="Shape 24"/>
          <p:cNvSpPr/>
          <p:nvPr/>
        </p:nvSpPr>
        <p:spPr>
          <a:xfrm>
            <a:off x="5203027" y="2011680"/>
            <a:ext cx="18105" cy="2286000"/>
          </a:xfrm>
          <a:prstGeom prst="rect">
            <a:avLst/>
          </a:prstGeom>
          <a:solidFill>
            <a:srgbClr val="087F8C"/>
          </a:solidFill>
          <a:ln w="12700">
            <a:solidFill>
              <a:srgbClr val="087F8C">
                <a:alpha val="0"/>
              </a:srgbClr>
            </a:solidFill>
            <a:prstDash val="solid"/>
          </a:ln>
        </p:spPr>
      </p:sp>
      <p:sp>
        <p:nvSpPr>
          <p:cNvPr id="27" name="Shape 25"/>
          <p:cNvSpPr/>
          <p:nvPr/>
        </p:nvSpPr>
        <p:spPr>
          <a:xfrm>
            <a:off x="5212080" y="3145627"/>
            <a:ext cx="164592" cy="18105"/>
          </a:xfrm>
          <a:prstGeom prst="rect">
            <a:avLst/>
          </a:prstGeom>
          <a:solidFill>
            <a:srgbClr val="087F8C"/>
          </a:solidFill>
          <a:ln w="12700">
            <a:solidFill>
              <a:srgbClr val="087F8C">
                <a:alpha val="0"/>
              </a:srgbClr>
            </a:solidFill>
            <a:prstDash val="solid"/>
          </a:ln>
        </p:spPr>
      </p:sp>
      <p:sp>
        <p:nvSpPr>
          <p:cNvPr id="28" name="Text 26"/>
          <p:cNvSpPr/>
          <p:nvPr/>
        </p:nvSpPr>
        <p:spPr>
          <a:xfrm>
            <a:off x="5271516" y="2994660"/>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9" name="Shape 27"/>
          <p:cNvSpPr/>
          <p:nvPr/>
        </p:nvSpPr>
        <p:spPr>
          <a:xfrm>
            <a:off x="7452360" y="3145627"/>
            <a:ext cx="283464" cy="18105"/>
          </a:xfrm>
          <a:prstGeom prst="rect">
            <a:avLst/>
          </a:prstGeom>
          <a:solidFill>
            <a:srgbClr val="087F8C"/>
          </a:solidFill>
          <a:ln w="12700">
            <a:solidFill>
              <a:srgbClr val="087F8C">
                <a:alpha val="0"/>
              </a:srgbClr>
            </a:solidFill>
            <a:prstDash val="solid"/>
          </a:ln>
        </p:spPr>
      </p:sp>
      <p:sp>
        <p:nvSpPr>
          <p:cNvPr id="30" name="Text 28"/>
          <p:cNvSpPr/>
          <p:nvPr/>
        </p:nvSpPr>
        <p:spPr>
          <a:xfrm>
            <a:off x="7630668" y="2994660"/>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31" name="Shape 29"/>
          <p:cNvSpPr/>
          <p:nvPr/>
        </p:nvSpPr>
        <p:spPr>
          <a:xfrm>
            <a:off x="9674352" y="3145627"/>
            <a:ext cx="256032" cy="18105"/>
          </a:xfrm>
          <a:prstGeom prst="rect">
            <a:avLst/>
          </a:prstGeom>
          <a:solidFill>
            <a:srgbClr val="087F8C"/>
          </a:solidFill>
          <a:ln w="12700">
            <a:solidFill>
              <a:srgbClr val="087F8C">
                <a:alpha val="0"/>
              </a:srgbClr>
            </a:solidFill>
            <a:prstDash val="solid"/>
          </a:ln>
        </p:spPr>
      </p:sp>
      <p:sp>
        <p:nvSpPr>
          <p:cNvPr id="32" name="Text 30"/>
          <p:cNvSpPr/>
          <p:nvPr/>
        </p:nvSpPr>
        <p:spPr>
          <a:xfrm>
            <a:off x="9825228" y="2994660"/>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33" name="Text 31"/>
          <p:cNvSpPr/>
          <p:nvPr/>
        </p:nvSpPr>
        <p:spPr>
          <a:xfrm>
            <a:off x="658368" y="5230368"/>
            <a:ext cx="2926080" cy="365760"/>
          </a:xfrm>
          <a:prstGeom prst="rect">
            <a:avLst/>
          </a:prstGeom>
          <a:noFill/>
          <a:ln/>
        </p:spPr>
        <p:txBody>
          <a:bodyPr wrap="square" lIns="0" tIns="0" rIns="0" bIns="0" rtlCol="0" anchor="ctr">
            <a:normAutofit/>
          </a:bodyPr>
          <a:lstStyle/>
          <a:p>
            <a:pPr indent="0" marL="0">
              <a:buNone/>
            </a:pPr>
            <a:r>
              <a:rPr lang="en-US" sz="2000" b="1" dirty="0">
                <a:solidFill>
                  <a:srgbClr val="0B1B2C"/>
                </a:solidFill>
                <a:latin typeface="Avenir Next" pitchFamily="34" charset="0"/>
                <a:ea typeface="Avenir Next" pitchFamily="34" charset="-122"/>
                <a:cs typeface="Avenir Next" pitchFamily="34" charset="-120"/>
              </a:rPr>
              <a:t>What changes</a:t>
            </a:r>
            <a:endParaRPr lang="en-US" sz="2000" dirty="0"/>
          </a:p>
        </p:txBody>
      </p:sp>
      <p:sp>
        <p:nvSpPr>
          <p:cNvPr id="34" name="Text 32"/>
          <p:cNvSpPr/>
          <p:nvPr/>
        </p:nvSpPr>
        <p:spPr>
          <a:xfrm>
            <a:off x="658368" y="5596128"/>
            <a:ext cx="10789920" cy="384048"/>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A separate ML model prioritizes the consolidated alerts for analyst review.</a:t>
            </a:r>
            <a:endParaRPr lang="en-US" sz="1800" dirty="0"/>
          </a:p>
        </p:txBody>
      </p:sp>
      <p:sp>
        <p:nvSpPr>
          <p:cNvPr id="35" name="Text 33"/>
          <p:cNvSpPr/>
          <p:nvPr/>
        </p:nvSpPr>
        <p:spPr>
          <a:xfrm>
            <a:off x="658368" y="6007608"/>
            <a:ext cx="10789920" cy="310896"/>
          </a:xfrm>
          <a:prstGeom prst="rect">
            <a:avLst/>
          </a:prstGeom>
          <a:noFill/>
          <a:ln/>
        </p:spPr>
        <p:txBody>
          <a:bodyPr wrap="square" lIns="0" tIns="0" rIns="0" bIns="0" rtlCol="0" anchor="ctr">
            <a:normAutofit/>
          </a:bodyPr>
          <a:lstStyle/>
          <a:p>
            <a:pPr indent="0" marL="0">
              <a:buNone/>
            </a:pPr>
            <a:r>
              <a:rPr lang="en-US" sz="1500" dirty="0">
                <a:solidFill>
                  <a:srgbClr val="526577"/>
                </a:solidFill>
                <a:latin typeface="Avenir Next" pitchFamily="34" charset="0"/>
                <a:ea typeface="Avenir Next" pitchFamily="34" charset="-122"/>
                <a:cs typeface="Avenir Next" pitchFamily="34" charset="-120"/>
              </a:rPr>
              <a:t>Bank example: UOB reports ML-based prioritization of transaction-monitoring alerts.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Project MVP: all-transaction feature fusion</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08</a:t>
            </a:r>
            <a:endParaRPr lang="en-US" sz="1000" dirty="0"/>
          </a:p>
        </p:txBody>
      </p:sp>
      <p:sp>
        <p:nvSpPr>
          <p:cNvPr id="6" name="Shape 4"/>
          <p:cNvSpPr/>
          <p:nvPr/>
        </p:nvSpPr>
        <p:spPr>
          <a:xfrm>
            <a:off x="594360" y="2788920"/>
            <a:ext cx="1490472" cy="749808"/>
          </a:xfrm>
          <a:prstGeom prst="rect">
            <a:avLst/>
          </a:prstGeom>
          <a:solidFill>
            <a:srgbClr val="FFFFFF"/>
          </a:solidFill>
          <a:ln w="12700">
            <a:solidFill>
              <a:srgbClr val="C8D4DB"/>
            </a:solidFill>
            <a:prstDash val="solid"/>
          </a:ln>
        </p:spPr>
      </p:sp>
      <p:sp>
        <p:nvSpPr>
          <p:cNvPr id="7" name="Text 5"/>
          <p:cNvSpPr/>
          <p:nvPr/>
        </p:nvSpPr>
        <p:spPr>
          <a:xfrm>
            <a:off x="713232" y="2862072"/>
            <a:ext cx="1252728" cy="603504"/>
          </a:xfrm>
          <a:prstGeom prst="rect">
            <a:avLst/>
          </a:prstGeom>
          <a:noFill/>
          <a:ln/>
        </p:spPr>
        <p:txBody>
          <a:bodyPr wrap="square" lIns="0" tIns="0" rIns="0" bIns="0" rtlCol="0" anchor="ctr">
            <a:normAutofit/>
          </a:bodyPr>
          <a:lstStyle/>
          <a:p>
            <a:pPr algn="ctr" indent="0" marL="0">
              <a:buNone/>
            </a:pPr>
            <a:r>
              <a:rPr lang="en-US" sz="1800" dirty="0">
                <a:solidFill>
                  <a:srgbClr val="0B1B2C"/>
                </a:solidFill>
                <a:latin typeface="Avenir Next" pitchFamily="34" charset="0"/>
                <a:ea typeface="Avenir Next" pitchFamily="34" charset="-122"/>
                <a:cs typeface="Avenir Next" pitchFamily="34" charset="-120"/>
              </a:rPr>
              <a:t>Transactions</a:t>
            </a:r>
            <a:endParaRPr lang="en-US" sz="1800" dirty="0"/>
          </a:p>
        </p:txBody>
      </p:sp>
      <p:sp>
        <p:nvSpPr>
          <p:cNvPr id="8" name="Shape 6"/>
          <p:cNvSpPr/>
          <p:nvPr/>
        </p:nvSpPr>
        <p:spPr>
          <a:xfrm>
            <a:off x="2633472" y="1481328"/>
            <a:ext cx="2048256" cy="713232"/>
          </a:xfrm>
          <a:prstGeom prst="rect">
            <a:avLst/>
          </a:prstGeom>
          <a:solidFill>
            <a:srgbClr val="E5F1F2"/>
          </a:solidFill>
          <a:ln w="12700">
            <a:solidFill>
              <a:srgbClr val="C8D4DB"/>
            </a:solidFill>
            <a:prstDash val="solid"/>
          </a:ln>
        </p:spPr>
      </p:sp>
      <p:sp>
        <p:nvSpPr>
          <p:cNvPr id="9" name="Text 7"/>
          <p:cNvSpPr/>
          <p:nvPr/>
        </p:nvSpPr>
        <p:spPr>
          <a:xfrm>
            <a:off x="2752344" y="1554480"/>
            <a:ext cx="1810512" cy="566928"/>
          </a:xfrm>
          <a:prstGeom prst="rect">
            <a:avLst/>
          </a:prstGeom>
          <a:noFill/>
          <a:ln/>
        </p:spPr>
        <p:txBody>
          <a:bodyPr wrap="square" lIns="0" tIns="0" rIns="0" bIns="0" rtlCol="0" anchor="ctr">
            <a:normAutofit/>
          </a:bodyPr>
          <a:lstStyle/>
          <a:p>
            <a:pPr algn="ctr" indent="0" marL="0">
              <a:buNone/>
            </a:pPr>
            <a:r>
              <a:rPr lang="en-US" sz="1600" dirty="0">
                <a:solidFill>
                  <a:srgbClr val="0B1B2C"/>
                </a:solidFill>
                <a:latin typeface="Avenir Next" pitchFamily="34" charset="0"/>
                <a:ea typeface="Avenir Next" pitchFamily="34" charset="-122"/>
                <a:cs typeface="Avenir Next" pitchFamily="34" charset="-120"/>
              </a:rPr>
              <a:t>Rule flags</a:t>
            </a:r>
            <a:endParaRPr lang="en-US" sz="1600" dirty="0"/>
          </a:p>
        </p:txBody>
      </p:sp>
      <p:sp>
        <p:nvSpPr>
          <p:cNvPr id="10" name="Shape 8"/>
          <p:cNvSpPr/>
          <p:nvPr/>
        </p:nvSpPr>
        <p:spPr>
          <a:xfrm>
            <a:off x="2633472" y="2788920"/>
            <a:ext cx="2048256" cy="713232"/>
          </a:xfrm>
          <a:prstGeom prst="rect">
            <a:avLst/>
          </a:prstGeom>
          <a:solidFill>
            <a:srgbClr val="E5F1F2"/>
          </a:solidFill>
          <a:ln w="12700">
            <a:solidFill>
              <a:srgbClr val="C8D4DB"/>
            </a:solidFill>
            <a:prstDash val="solid"/>
          </a:ln>
        </p:spPr>
      </p:sp>
      <p:sp>
        <p:nvSpPr>
          <p:cNvPr id="11" name="Text 9"/>
          <p:cNvSpPr/>
          <p:nvPr/>
        </p:nvSpPr>
        <p:spPr>
          <a:xfrm>
            <a:off x="2752344" y="2862072"/>
            <a:ext cx="1810512" cy="566928"/>
          </a:xfrm>
          <a:prstGeom prst="rect">
            <a:avLst/>
          </a:prstGeom>
          <a:noFill/>
          <a:ln/>
        </p:spPr>
        <p:txBody>
          <a:bodyPr wrap="square" lIns="0" tIns="0" rIns="0" bIns="0" rtlCol="0" anchor="ctr">
            <a:normAutofit/>
          </a:bodyPr>
          <a:lstStyle/>
          <a:p>
            <a:pPr algn="ctr" indent="0" marL="0">
              <a:buNone/>
            </a:pPr>
            <a:r>
              <a:rPr lang="en-US" sz="1600" dirty="0">
                <a:solidFill>
                  <a:srgbClr val="0B1B2C"/>
                </a:solidFill>
                <a:latin typeface="Avenir Next" pitchFamily="34" charset="0"/>
                <a:ea typeface="Avenir Next" pitchFamily="34" charset="-122"/>
                <a:cs typeface="Avenir Next" pitchFamily="34" charset="-120"/>
              </a:rPr>
              <a:t>Isolation Forest</a:t>
            </a:r>
            <a:endParaRPr lang="en-US" sz="1600" dirty="0"/>
          </a:p>
          <a:p>
            <a:pPr algn="ctr" indent="0" marL="0">
              <a:buNone/>
            </a:pPr>
            <a:r>
              <a:rPr lang="en-US" sz="1600" dirty="0">
                <a:solidFill>
                  <a:srgbClr val="0B1B2C"/>
                </a:solidFill>
                <a:latin typeface="Avenir Next" pitchFamily="34" charset="0"/>
                <a:ea typeface="Avenir Next" pitchFamily="34" charset="-122"/>
                <a:cs typeface="Avenir Next" pitchFamily="34" charset="-120"/>
              </a:rPr>
              <a:t>score</a:t>
            </a:r>
            <a:endParaRPr lang="en-US" sz="1600" dirty="0"/>
          </a:p>
        </p:txBody>
      </p:sp>
      <p:sp>
        <p:nvSpPr>
          <p:cNvPr id="12" name="Shape 10"/>
          <p:cNvSpPr/>
          <p:nvPr/>
        </p:nvSpPr>
        <p:spPr>
          <a:xfrm>
            <a:off x="2633472" y="4096512"/>
            <a:ext cx="2048256" cy="713232"/>
          </a:xfrm>
          <a:prstGeom prst="rect">
            <a:avLst/>
          </a:prstGeom>
          <a:solidFill>
            <a:srgbClr val="E5F1F2"/>
          </a:solidFill>
          <a:ln w="12700">
            <a:solidFill>
              <a:srgbClr val="C8D4DB"/>
            </a:solidFill>
            <a:prstDash val="solid"/>
          </a:ln>
        </p:spPr>
      </p:sp>
      <p:sp>
        <p:nvSpPr>
          <p:cNvPr id="13" name="Text 11"/>
          <p:cNvSpPr/>
          <p:nvPr/>
        </p:nvSpPr>
        <p:spPr>
          <a:xfrm>
            <a:off x="2752344" y="4169664"/>
            <a:ext cx="1810512" cy="566928"/>
          </a:xfrm>
          <a:prstGeom prst="rect">
            <a:avLst/>
          </a:prstGeom>
          <a:noFill/>
          <a:ln/>
        </p:spPr>
        <p:txBody>
          <a:bodyPr wrap="square" lIns="0" tIns="0" rIns="0" bIns="0" rtlCol="0" anchor="ctr">
            <a:normAutofit/>
          </a:bodyPr>
          <a:lstStyle/>
          <a:p>
            <a:pPr algn="ctr" indent="0" marL="0">
              <a:buNone/>
            </a:pPr>
            <a:r>
              <a:rPr lang="en-US" sz="1600" dirty="0">
                <a:solidFill>
                  <a:srgbClr val="0B1B2C"/>
                </a:solidFill>
                <a:latin typeface="Avenir Next" pitchFamily="34" charset="0"/>
                <a:ea typeface="Avenir Next" pitchFamily="34" charset="-122"/>
                <a:cs typeface="Avenir Next" pitchFamily="34" charset="-120"/>
              </a:rPr>
              <a:t>Network features</a:t>
            </a:r>
            <a:endParaRPr lang="en-US" sz="1600" dirty="0"/>
          </a:p>
        </p:txBody>
      </p:sp>
      <p:sp>
        <p:nvSpPr>
          <p:cNvPr id="14" name="Shape 12"/>
          <p:cNvSpPr/>
          <p:nvPr/>
        </p:nvSpPr>
        <p:spPr>
          <a:xfrm>
            <a:off x="5321808" y="2788920"/>
            <a:ext cx="2011680" cy="749808"/>
          </a:xfrm>
          <a:prstGeom prst="rect">
            <a:avLst/>
          </a:prstGeom>
          <a:solidFill>
            <a:srgbClr val="FFFFFF"/>
          </a:solidFill>
          <a:ln w="12700">
            <a:solidFill>
              <a:srgbClr val="087F8C"/>
            </a:solidFill>
            <a:prstDash val="solid"/>
          </a:ln>
        </p:spPr>
      </p:sp>
      <p:sp>
        <p:nvSpPr>
          <p:cNvPr id="15" name="Text 13"/>
          <p:cNvSpPr/>
          <p:nvPr/>
        </p:nvSpPr>
        <p:spPr>
          <a:xfrm>
            <a:off x="5440680" y="2862072"/>
            <a:ext cx="1773936" cy="603504"/>
          </a:xfrm>
          <a:prstGeom prst="rect">
            <a:avLst/>
          </a:prstGeom>
          <a:noFill/>
          <a:ln/>
        </p:spPr>
        <p:txBody>
          <a:bodyPr wrap="square" lIns="0" tIns="0" rIns="0" bIns="0" rtlCol="0" anchor="ctr">
            <a:normAutofit/>
          </a:bodyPr>
          <a:lstStyle/>
          <a:p>
            <a:pPr algn="ctr" indent="0" marL="0">
              <a:buNone/>
            </a:pPr>
            <a:r>
              <a:rPr lang="en-US" sz="1700" b="1" dirty="0">
                <a:solidFill>
                  <a:srgbClr val="0B1B2C"/>
                </a:solidFill>
                <a:latin typeface="Avenir Next" pitchFamily="34" charset="0"/>
                <a:ea typeface="Avenir Next" pitchFamily="34" charset="-122"/>
                <a:cs typeface="Avenir Next" pitchFamily="34" charset="-120"/>
              </a:rPr>
              <a:t>Shared model inputs</a:t>
            </a:r>
            <a:endParaRPr lang="en-US" sz="1700" dirty="0"/>
          </a:p>
        </p:txBody>
      </p:sp>
      <p:sp>
        <p:nvSpPr>
          <p:cNvPr id="16" name="Shape 14"/>
          <p:cNvSpPr/>
          <p:nvPr/>
        </p:nvSpPr>
        <p:spPr>
          <a:xfrm>
            <a:off x="7726680" y="1481328"/>
            <a:ext cx="1920240" cy="713232"/>
          </a:xfrm>
          <a:prstGeom prst="rect">
            <a:avLst/>
          </a:prstGeom>
          <a:solidFill>
            <a:srgbClr val="FFFFFF"/>
          </a:solidFill>
          <a:ln w="12700">
            <a:solidFill>
              <a:srgbClr val="C8D4DB"/>
            </a:solidFill>
            <a:prstDash val="solid"/>
          </a:ln>
        </p:spPr>
      </p:sp>
      <p:sp>
        <p:nvSpPr>
          <p:cNvPr id="17" name="Text 15"/>
          <p:cNvSpPr/>
          <p:nvPr/>
        </p:nvSpPr>
        <p:spPr>
          <a:xfrm>
            <a:off x="7845552" y="1554480"/>
            <a:ext cx="1682496" cy="566928"/>
          </a:xfrm>
          <a:prstGeom prst="rect">
            <a:avLst/>
          </a:prstGeom>
          <a:noFill/>
          <a:ln/>
        </p:spPr>
        <p:txBody>
          <a:bodyPr wrap="square" lIns="0" tIns="0" rIns="0" bIns="0" rtlCol="0" anchor="ctr">
            <a:normAutofit/>
          </a:bodyPr>
          <a:lstStyle/>
          <a:p>
            <a:pPr algn="ctr" indent="0" marL="0">
              <a:buNone/>
            </a:pPr>
            <a:r>
              <a:rPr lang="en-US" sz="1600" dirty="0">
                <a:solidFill>
                  <a:srgbClr val="0B1B2C"/>
                </a:solidFill>
                <a:latin typeface="Avenir Next" pitchFamily="34" charset="0"/>
                <a:ea typeface="Avenir Next" pitchFamily="34" charset="-122"/>
                <a:cs typeface="Avenir Next" pitchFamily="34" charset="-120"/>
              </a:rPr>
              <a:t>Logistic regression</a:t>
            </a:r>
            <a:endParaRPr lang="en-US" sz="1600" dirty="0"/>
          </a:p>
        </p:txBody>
      </p:sp>
      <p:sp>
        <p:nvSpPr>
          <p:cNvPr id="18" name="Shape 16"/>
          <p:cNvSpPr/>
          <p:nvPr/>
        </p:nvSpPr>
        <p:spPr>
          <a:xfrm>
            <a:off x="7726680" y="2788920"/>
            <a:ext cx="1920240" cy="713232"/>
          </a:xfrm>
          <a:prstGeom prst="rect">
            <a:avLst/>
          </a:prstGeom>
          <a:solidFill>
            <a:srgbClr val="D9EBEE"/>
          </a:solidFill>
          <a:ln w="12700">
            <a:solidFill>
              <a:srgbClr val="087F8C"/>
            </a:solidFill>
            <a:prstDash val="solid"/>
          </a:ln>
        </p:spPr>
      </p:sp>
      <p:sp>
        <p:nvSpPr>
          <p:cNvPr id="19" name="Text 17"/>
          <p:cNvSpPr/>
          <p:nvPr/>
        </p:nvSpPr>
        <p:spPr>
          <a:xfrm>
            <a:off x="7845552" y="2862072"/>
            <a:ext cx="1682496" cy="566928"/>
          </a:xfrm>
          <a:prstGeom prst="rect">
            <a:avLst/>
          </a:prstGeom>
          <a:noFill/>
          <a:ln/>
        </p:spPr>
        <p:txBody>
          <a:bodyPr wrap="square" lIns="0" tIns="0" rIns="0" bIns="0" rtlCol="0" anchor="ctr">
            <a:normAutofit/>
          </a:bodyPr>
          <a:lstStyle/>
          <a:p>
            <a:pPr algn="ctr" indent="0" marL="0">
              <a:buNone/>
            </a:pPr>
            <a:r>
              <a:rPr lang="en-US" sz="1600" b="1" dirty="0">
                <a:solidFill>
                  <a:srgbClr val="0B1B2C"/>
                </a:solidFill>
                <a:latin typeface="Avenir Next" pitchFamily="34" charset="0"/>
                <a:ea typeface="Avenir Next" pitchFamily="34" charset="-122"/>
                <a:cs typeface="Avenir Next" pitchFamily="34" charset="-120"/>
              </a:rPr>
              <a:t>XGBoost</a:t>
            </a:r>
            <a:endParaRPr lang="en-US" sz="1600" dirty="0"/>
          </a:p>
        </p:txBody>
      </p:sp>
      <p:sp>
        <p:nvSpPr>
          <p:cNvPr id="20" name="Shape 18"/>
          <p:cNvSpPr/>
          <p:nvPr/>
        </p:nvSpPr>
        <p:spPr>
          <a:xfrm>
            <a:off x="7726680" y="4096512"/>
            <a:ext cx="1920240" cy="713232"/>
          </a:xfrm>
          <a:prstGeom prst="rect">
            <a:avLst/>
          </a:prstGeom>
          <a:solidFill>
            <a:srgbClr val="FFFFFF"/>
          </a:solidFill>
          <a:ln w="12700">
            <a:solidFill>
              <a:srgbClr val="C8D4DB"/>
            </a:solidFill>
            <a:prstDash val="solid"/>
          </a:ln>
        </p:spPr>
      </p:sp>
      <p:sp>
        <p:nvSpPr>
          <p:cNvPr id="21" name="Text 19"/>
          <p:cNvSpPr/>
          <p:nvPr/>
        </p:nvSpPr>
        <p:spPr>
          <a:xfrm>
            <a:off x="7845552" y="4169664"/>
            <a:ext cx="1682496" cy="566928"/>
          </a:xfrm>
          <a:prstGeom prst="rect">
            <a:avLst/>
          </a:prstGeom>
          <a:noFill/>
          <a:ln/>
        </p:spPr>
        <p:txBody>
          <a:bodyPr wrap="square" lIns="0" tIns="0" rIns="0" bIns="0" rtlCol="0" anchor="ctr">
            <a:normAutofit/>
          </a:bodyPr>
          <a:lstStyle/>
          <a:p>
            <a:pPr algn="ctr" indent="0" marL="0">
              <a:buNone/>
            </a:pPr>
            <a:r>
              <a:rPr lang="en-US" sz="1600" dirty="0">
                <a:solidFill>
                  <a:srgbClr val="0B1B2C"/>
                </a:solidFill>
                <a:latin typeface="Avenir Next" pitchFamily="34" charset="0"/>
                <a:ea typeface="Avenir Next" pitchFamily="34" charset="-122"/>
                <a:cs typeface="Avenir Next" pitchFamily="34" charset="-120"/>
              </a:rPr>
              <a:t>EBM</a:t>
            </a:r>
            <a:endParaRPr lang="en-US" sz="1600" dirty="0"/>
          </a:p>
        </p:txBody>
      </p:sp>
      <p:sp>
        <p:nvSpPr>
          <p:cNvPr id="22" name="Shape 20"/>
          <p:cNvSpPr/>
          <p:nvPr/>
        </p:nvSpPr>
        <p:spPr>
          <a:xfrm>
            <a:off x="9784080" y="2788920"/>
            <a:ext cx="1810512" cy="749808"/>
          </a:xfrm>
          <a:prstGeom prst="rect">
            <a:avLst/>
          </a:prstGeom>
          <a:solidFill>
            <a:srgbClr val="D9EBEE"/>
          </a:solidFill>
          <a:ln w="12700">
            <a:solidFill>
              <a:srgbClr val="087F8C"/>
            </a:solidFill>
            <a:prstDash val="solid"/>
          </a:ln>
        </p:spPr>
      </p:sp>
      <p:sp>
        <p:nvSpPr>
          <p:cNvPr id="23" name="Text 21"/>
          <p:cNvSpPr/>
          <p:nvPr/>
        </p:nvSpPr>
        <p:spPr>
          <a:xfrm>
            <a:off x="9902952" y="2862072"/>
            <a:ext cx="1572768" cy="603504"/>
          </a:xfrm>
          <a:prstGeom prst="rect">
            <a:avLst/>
          </a:prstGeom>
          <a:noFill/>
          <a:ln/>
        </p:spPr>
        <p:txBody>
          <a:bodyPr wrap="square" lIns="0" tIns="0" rIns="0" bIns="0" rtlCol="0" anchor="ctr">
            <a:normAutofit/>
          </a:bodyPr>
          <a:lstStyle/>
          <a:p>
            <a:pPr algn="ctr" indent="0" marL="0">
              <a:buNone/>
            </a:pPr>
            <a:r>
              <a:rPr lang="en-US" sz="1400" b="1" dirty="0">
                <a:solidFill>
                  <a:srgbClr val="0B1B2C"/>
                </a:solidFill>
                <a:latin typeface="Avenir Next" pitchFamily="34" charset="0"/>
                <a:ea typeface="Avenir Next" pitchFamily="34" charset="-122"/>
                <a:cs typeface="Avenir Next" pitchFamily="34" charset="-120"/>
              </a:rPr>
              <a:t>Analyst review queue</a:t>
            </a:r>
            <a:endParaRPr lang="en-US" sz="1400" dirty="0"/>
          </a:p>
          <a:p>
            <a:pPr algn="ctr" indent="0" marL="0">
              <a:buNone/>
            </a:pPr>
            <a:r>
              <a:rPr lang="en-US" sz="1400" b="1" dirty="0">
                <a:solidFill>
                  <a:srgbClr val="0B1B2C"/>
                </a:solidFill>
                <a:latin typeface="Avenir Next" pitchFamily="34" charset="0"/>
                <a:ea typeface="Avenir Next" pitchFamily="34" charset="-122"/>
                <a:cs typeface="Avenir Next" pitchFamily="34" charset="-120"/>
              </a:rPr>
              <a:t>1,708 test alerts</a:t>
            </a:r>
            <a:endParaRPr lang="en-US" sz="1400" dirty="0"/>
          </a:p>
        </p:txBody>
      </p:sp>
      <p:sp>
        <p:nvSpPr>
          <p:cNvPr id="24" name="Shape 22"/>
          <p:cNvSpPr/>
          <p:nvPr/>
        </p:nvSpPr>
        <p:spPr>
          <a:xfrm>
            <a:off x="2084832" y="3155274"/>
            <a:ext cx="256032" cy="17099"/>
          </a:xfrm>
          <a:prstGeom prst="rect">
            <a:avLst/>
          </a:prstGeom>
          <a:solidFill>
            <a:srgbClr val="087F8C"/>
          </a:solidFill>
          <a:ln w="12700">
            <a:solidFill>
              <a:srgbClr val="087F8C">
                <a:alpha val="0"/>
              </a:srgbClr>
            </a:solidFill>
            <a:prstDash val="solid"/>
          </a:ln>
        </p:spPr>
      </p:sp>
      <p:sp>
        <p:nvSpPr>
          <p:cNvPr id="25" name="Shape 23"/>
          <p:cNvSpPr/>
          <p:nvPr/>
        </p:nvSpPr>
        <p:spPr>
          <a:xfrm>
            <a:off x="2332314" y="1837944"/>
            <a:ext cx="17099" cy="2615184"/>
          </a:xfrm>
          <a:prstGeom prst="rect">
            <a:avLst/>
          </a:prstGeom>
          <a:solidFill>
            <a:srgbClr val="087F8C"/>
          </a:solidFill>
          <a:ln w="12700">
            <a:solidFill>
              <a:srgbClr val="087F8C">
                <a:alpha val="0"/>
              </a:srgbClr>
            </a:solidFill>
            <a:prstDash val="solid"/>
          </a:ln>
        </p:spPr>
      </p:sp>
      <p:sp>
        <p:nvSpPr>
          <p:cNvPr id="26" name="Shape 24"/>
          <p:cNvSpPr/>
          <p:nvPr/>
        </p:nvSpPr>
        <p:spPr>
          <a:xfrm>
            <a:off x="2340864" y="1829394"/>
            <a:ext cx="274320" cy="17099"/>
          </a:xfrm>
          <a:prstGeom prst="rect">
            <a:avLst/>
          </a:prstGeom>
          <a:solidFill>
            <a:srgbClr val="087F8C"/>
          </a:solidFill>
          <a:ln w="12700">
            <a:solidFill>
              <a:srgbClr val="087F8C">
                <a:alpha val="0"/>
              </a:srgbClr>
            </a:solidFill>
            <a:prstDash val="solid"/>
          </a:ln>
        </p:spPr>
      </p:sp>
      <p:sp>
        <p:nvSpPr>
          <p:cNvPr id="27" name="Text 25"/>
          <p:cNvSpPr/>
          <p:nvPr/>
        </p:nvSpPr>
        <p:spPr>
          <a:xfrm>
            <a:off x="2510028" y="1677924"/>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28" name="Shape 26"/>
          <p:cNvSpPr/>
          <p:nvPr/>
        </p:nvSpPr>
        <p:spPr>
          <a:xfrm>
            <a:off x="2340864" y="3136986"/>
            <a:ext cx="274320" cy="17099"/>
          </a:xfrm>
          <a:prstGeom prst="rect">
            <a:avLst/>
          </a:prstGeom>
          <a:solidFill>
            <a:srgbClr val="087F8C"/>
          </a:solidFill>
          <a:ln w="12700">
            <a:solidFill>
              <a:srgbClr val="087F8C">
                <a:alpha val="0"/>
              </a:srgbClr>
            </a:solidFill>
            <a:prstDash val="solid"/>
          </a:ln>
        </p:spPr>
      </p:sp>
      <p:sp>
        <p:nvSpPr>
          <p:cNvPr id="29" name="Text 27"/>
          <p:cNvSpPr/>
          <p:nvPr/>
        </p:nvSpPr>
        <p:spPr>
          <a:xfrm>
            <a:off x="2510028" y="2985516"/>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30" name="Shape 28"/>
          <p:cNvSpPr/>
          <p:nvPr/>
        </p:nvSpPr>
        <p:spPr>
          <a:xfrm>
            <a:off x="2340864" y="4444578"/>
            <a:ext cx="274320" cy="17099"/>
          </a:xfrm>
          <a:prstGeom prst="rect">
            <a:avLst/>
          </a:prstGeom>
          <a:solidFill>
            <a:srgbClr val="087F8C"/>
          </a:solidFill>
          <a:ln w="12700">
            <a:solidFill>
              <a:srgbClr val="087F8C">
                <a:alpha val="0"/>
              </a:srgbClr>
            </a:solidFill>
            <a:prstDash val="solid"/>
          </a:ln>
        </p:spPr>
      </p:sp>
      <p:sp>
        <p:nvSpPr>
          <p:cNvPr id="31" name="Text 29"/>
          <p:cNvSpPr/>
          <p:nvPr/>
        </p:nvSpPr>
        <p:spPr>
          <a:xfrm>
            <a:off x="2510028" y="429310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32" name="Shape 30"/>
          <p:cNvSpPr/>
          <p:nvPr/>
        </p:nvSpPr>
        <p:spPr>
          <a:xfrm>
            <a:off x="4974930" y="1837944"/>
            <a:ext cx="17099" cy="2615184"/>
          </a:xfrm>
          <a:prstGeom prst="rect">
            <a:avLst/>
          </a:prstGeom>
          <a:solidFill>
            <a:srgbClr val="087F8C"/>
          </a:solidFill>
          <a:ln w="12700">
            <a:solidFill>
              <a:srgbClr val="087F8C">
                <a:alpha val="0"/>
              </a:srgbClr>
            </a:solidFill>
            <a:prstDash val="solid"/>
          </a:ln>
        </p:spPr>
      </p:sp>
      <p:sp>
        <p:nvSpPr>
          <p:cNvPr id="33" name="Shape 31"/>
          <p:cNvSpPr/>
          <p:nvPr/>
        </p:nvSpPr>
        <p:spPr>
          <a:xfrm>
            <a:off x="4681728" y="1829394"/>
            <a:ext cx="301752" cy="17099"/>
          </a:xfrm>
          <a:prstGeom prst="rect">
            <a:avLst/>
          </a:prstGeom>
          <a:solidFill>
            <a:srgbClr val="087F8C"/>
          </a:solidFill>
          <a:ln w="12700">
            <a:solidFill>
              <a:srgbClr val="087F8C">
                <a:alpha val="0"/>
              </a:srgbClr>
            </a:solidFill>
            <a:prstDash val="solid"/>
          </a:ln>
        </p:spPr>
      </p:sp>
      <p:sp>
        <p:nvSpPr>
          <p:cNvPr id="34" name="Shape 32"/>
          <p:cNvSpPr/>
          <p:nvPr/>
        </p:nvSpPr>
        <p:spPr>
          <a:xfrm>
            <a:off x="4681728" y="3136986"/>
            <a:ext cx="301752" cy="17099"/>
          </a:xfrm>
          <a:prstGeom prst="rect">
            <a:avLst/>
          </a:prstGeom>
          <a:solidFill>
            <a:srgbClr val="087F8C"/>
          </a:solidFill>
          <a:ln w="12700">
            <a:solidFill>
              <a:srgbClr val="087F8C">
                <a:alpha val="0"/>
              </a:srgbClr>
            </a:solidFill>
            <a:prstDash val="solid"/>
          </a:ln>
        </p:spPr>
      </p:sp>
      <p:sp>
        <p:nvSpPr>
          <p:cNvPr id="35" name="Shape 33"/>
          <p:cNvSpPr/>
          <p:nvPr/>
        </p:nvSpPr>
        <p:spPr>
          <a:xfrm>
            <a:off x="4681728" y="4444578"/>
            <a:ext cx="301752" cy="17099"/>
          </a:xfrm>
          <a:prstGeom prst="rect">
            <a:avLst/>
          </a:prstGeom>
          <a:solidFill>
            <a:srgbClr val="087F8C"/>
          </a:solidFill>
          <a:ln w="12700">
            <a:solidFill>
              <a:srgbClr val="087F8C">
                <a:alpha val="0"/>
              </a:srgbClr>
            </a:solidFill>
            <a:prstDash val="solid"/>
          </a:ln>
        </p:spPr>
      </p:sp>
      <p:sp>
        <p:nvSpPr>
          <p:cNvPr id="36" name="Shape 34"/>
          <p:cNvSpPr/>
          <p:nvPr/>
        </p:nvSpPr>
        <p:spPr>
          <a:xfrm>
            <a:off x="4983480" y="3155274"/>
            <a:ext cx="320040" cy="17099"/>
          </a:xfrm>
          <a:prstGeom prst="rect">
            <a:avLst/>
          </a:prstGeom>
          <a:solidFill>
            <a:srgbClr val="087F8C"/>
          </a:solidFill>
          <a:ln w="12700">
            <a:solidFill>
              <a:srgbClr val="087F8C">
                <a:alpha val="0"/>
              </a:srgbClr>
            </a:solidFill>
            <a:prstDash val="solid"/>
          </a:ln>
        </p:spPr>
      </p:sp>
      <p:sp>
        <p:nvSpPr>
          <p:cNvPr id="37" name="Text 35"/>
          <p:cNvSpPr/>
          <p:nvPr/>
        </p:nvSpPr>
        <p:spPr>
          <a:xfrm>
            <a:off x="5198364" y="3003804"/>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38" name="Shape 36"/>
          <p:cNvSpPr/>
          <p:nvPr/>
        </p:nvSpPr>
        <p:spPr>
          <a:xfrm>
            <a:off x="7333488" y="3155274"/>
            <a:ext cx="301752" cy="17099"/>
          </a:xfrm>
          <a:prstGeom prst="rect">
            <a:avLst/>
          </a:prstGeom>
          <a:solidFill>
            <a:srgbClr val="087F8C"/>
          </a:solidFill>
          <a:ln w="12700">
            <a:solidFill>
              <a:srgbClr val="087F8C">
                <a:alpha val="0"/>
              </a:srgbClr>
            </a:solidFill>
            <a:prstDash val="solid"/>
          </a:ln>
        </p:spPr>
      </p:sp>
      <p:sp>
        <p:nvSpPr>
          <p:cNvPr id="39" name="Shape 37"/>
          <p:cNvSpPr/>
          <p:nvPr/>
        </p:nvSpPr>
        <p:spPr>
          <a:xfrm>
            <a:off x="7626690" y="1837944"/>
            <a:ext cx="17099" cy="2615184"/>
          </a:xfrm>
          <a:prstGeom prst="rect">
            <a:avLst/>
          </a:prstGeom>
          <a:solidFill>
            <a:srgbClr val="087F8C"/>
          </a:solidFill>
          <a:ln w="12700">
            <a:solidFill>
              <a:srgbClr val="087F8C">
                <a:alpha val="0"/>
              </a:srgbClr>
            </a:solidFill>
            <a:prstDash val="solid"/>
          </a:ln>
        </p:spPr>
      </p:sp>
      <p:sp>
        <p:nvSpPr>
          <p:cNvPr id="40" name="Shape 38"/>
          <p:cNvSpPr/>
          <p:nvPr/>
        </p:nvSpPr>
        <p:spPr>
          <a:xfrm>
            <a:off x="7635240" y="1829394"/>
            <a:ext cx="73152" cy="17099"/>
          </a:xfrm>
          <a:prstGeom prst="rect">
            <a:avLst/>
          </a:prstGeom>
          <a:solidFill>
            <a:srgbClr val="087F8C"/>
          </a:solidFill>
          <a:ln w="12700">
            <a:solidFill>
              <a:srgbClr val="087F8C">
                <a:alpha val="0"/>
              </a:srgbClr>
            </a:solidFill>
            <a:prstDash val="solid"/>
          </a:ln>
        </p:spPr>
      </p:sp>
      <p:sp>
        <p:nvSpPr>
          <p:cNvPr id="41" name="Text 39"/>
          <p:cNvSpPr/>
          <p:nvPr/>
        </p:nvSpPr>
        <p:spPr>
          <a:xfrm>
            <a:off x="7603236" y="1677924"/>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42" name="Shape 40"/>
          <p:cNvSpPr/>
          <p:nvPr/>
        </p:nvSpPr>
        <p:spPr>
          <a:xfrm>
            <a:off x="7635240" y="3136986"/>
            <a:ext cx="73152" cy="17099"/>
          </a:xfrm>
          <a:prstGeom prst="rect">
            <a:avLst/>
          </a:prstGeom>
          <a:solidFill>
            <a:srgbClr val="087F8C"/>
          </a:solidFill>
          <a:ln w="12700">
            <a:solidFill>
              <a:srgbClr val="087F8C">
                <a:alpha val="0"/>
              </a:srgbClr>
            </a:solidFill>
            <a:prstDash val="solid"/>
          </a:ln>
        </p:spPr>
      </p:sp>
      <p:sp>
        <p:nvSpPr>
          <p:cNvPr id="43" name="Text 41"/>
          <p:cNvSpPr/>
          <p:nvPr/>
        </p:nvSpPr>
        <p:spPr>
          <a:xfrm>
            <a:off x="7603236" y="2985516"/>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44" name="Shape 42"/>
          <p:cNvSpPr/>
          <p:nvPr/>
        </p:nvSpPr>
        <p:spPr>
          <a:xfrm>
            <a:off x="7635240" y="4444578"/>
            <a:ext cx="73152" cy="17099"/>
          </a:xfrm>
          <a:prstGeom prst="rect">
            <a:avLst/>
          </a:prstGeom>
          <a:solidFill>
            <a:srgbClr val="087F8C"/>
          </a:solidFill>
          <a:ln w="12700">
            <a:solidFill>
              <a:srgbClr val="087F8C">
                <a:alpha val="0"/>
              </a:srgbClr>
            </a:solidFill>
            <a:prstDash val="solid"/>
          </a:ln>
        </p:spPr>
      </p:sp>
      <p:sp>
        <p:nvSpPr>
          <p:cNvPr id="45" name="Text 43"/>
          <p:cNvSpPr/>
          <p:nvPr/>
        </p:nvSpPr>
        <p:spPr>
          <a:xfrm>
            <a:off x="7603236" y="4293108"/>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46" name="Shape 44"/>
          <p:cNvSpPr/>
          <p:nvPr/>
        </p:nvSpPr>
        <p:spPr>
          <a:xfrm>
            <a:off x="9646920" y="3135981"/>
            <a:ext cx="118872" cy="19111"/>
          </a:xfrm>
          <a:prstGeom prst="rect">
            <a:avLst/>
          </a:prstGeom>
          <a:solidFill>
            <a:srgbClr val="087F8C"/>
          </a:solidFill>
          <a:ln w="12700">
            <a:solidFill>
              <a:srgbClr val="087F8C">
                <a:alpha val="0"/>
              </a:srgbClr>
            </a:solidFill>
            <a:prstDash val="solid"/>
          </a:ln>
        </p:spPr>
      </p:sp>
      <p:sp>
        <p:nvSpPr>
          <p:cNvPr id="47" name="Text 45"/>
          <p:cNvSpPr/>
          <p:nvPr/>
        </p:nvSpPr>
        <p:spPr>
          <a:xfrm>
            <a:off x="9660636" y="2985516"/>
            <a:ext cx="219456" cy="301752"/>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venir Next" pitchFamily="34" charset="0"/>
                <a:ea typeface="Avenir Next" pitchFamily="34" charset="-122"/>
                <a:cs typeface="Avenir Next" pitchFamily="34" charset="-120"/>
              </a:rPr>
              <a:t>›</a:t>
            </a:r>
            <a:endParaRPr lang="en-US" sz="1800" dirty="0"/>
          </a:p>
        </p:txBody>
      </p:sp>
      <p:sp>
        <p:nvSpPr>
          <p:cNvPr id="48" name="Text 46"/>
          <p:cNvSpPr/>
          <p:nvPr/>
        </p:nvSpPr>
        <p:spPr>
          <a:xfrm>
            <a:off x="685800" y="5193792"/>
            <a:ext cx="10698480" cy="393192"/>
          </a:xfrm>
          <a:prstGeom prst="rect">
            <a:avLst/>
          </a:prstGeom>
          <a:noFill/>
          <a:ln/>
        </p:spPr>
        <p:txBody>
          <a:bodyPr wrap="square" lIns="0" tIns="0" rIns="0" bIns="0" rtlCol="0" anchor="ctr">
            <a:normAutofit/>
          </a:bodyPr>
          <a:lstStyle/>
          <a:p>
            <a:pPr algn="ctr" indent="0" marL="0">
              <a:buNone/>
            </a:pPr>
            <a:r>
              <a:rPr lang="en-US" sz="1900" b="1" dirty="0">
                <a:solidFill>
                  <a:srgbClr val="162536"/>
                </a:solidFill>
                <a:latin typeface="Avenir Next" pitchFamily="34" charset="0"/>
                <a:ea typeface="Avenir Next" pitchFamily="34" charset="-122"/>
                <a:cs typeface="Avenir Next" pitchFamily="34" charset="-120"/>
              </a:rPr>
              <a:t>Feature fusion combines rule flags, anomaly scores and network features.</a:t>
            </a:r>
            <a:endParaRPr lang="en-US" sz="1900" dirty="0"/>
          </a:p>
        </p:txBody>
      </p:sp>
      <p:sp>
        <p:nvSpPr>
          <p:cNvPr id="49" name="Text 47"/>
          <p:cNvSpPr/>
          <p:nvPr/>
        </p:nvSpPr>
        <p:spPr>
          <a:xfrm>
            <a:off x="685800" y="5669280"/>
            <a:ext cx="10698480" cy="502920"/>
          </a:xfrm>
          <a:prstGeom prst="rect">
            <a:avLst/>
          </a:prstGeom>
          <a:noFill/>
          <a:ln/>
        </p:spPr>
        <p:txBody>
          <a:bodyPr wrap="square" lIns="0" tIns="0" rIns="0" bIns="0" rtlCol="0" anchor="ctr">
            <a:normAutofit/>
          </a:bodyPr>
          <a:lstStyle/>
          <a:p>
            <a:pPr algn="ctr" indent="0" marL="0">
              <a:buNone/>
            </a:pPr>
            <a:r>
              <a:rPr lang="en-US" sz="1700" dirty="0">
                <a:solidFill>
                  <a:srgbClr val="526577"/>
                </a:solidFill>
                <a:latin typeface="Avenir Next" pitchFamily="34" charset="0"/>
                <a:ea typeface="Avenir Next" pitchFamily="34" charset="-122"/>
                <a:cs typeface="Avenir Next" pitchFamily="34" charset="-120"/>
              </a:rPr>
              <a:t>Every model scores all rows; time folds select XGBoost and validation sets its alert threshold.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Data, target and chronological split</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09</a:t>
            </a:r>
            <a:endParaRPr lang="en-US" sz="1000" dirty="0"/>
          </a:p>
        </p:txBody>
      </p:sp>
      <p:sp>
        <p:nvSpPr>
          <p:cNvPr id="6" name="Text 4"/>
          <p:cNvSpPr/>
          <p:nvPr/>
        </p:nvSpPr>
        <p:spPr>
          <a:xfrm>
            <a:off x="640080" y="1335024"/>
            <a:ext cx="2926080" cy="621792"/>
          </a:xfrm>
          <a:prstGeom prst="rect">
            <a:avLst/>
          </a:prstGeom>
          <a:noFill/>
          <a:ln/>
        </p:spPr>
        <p:txBody>
          <a:bodyPr wrap="square" lIns="0" tIns="0" rIns="0" bIns="0" rtlCol="0" anchor="ctr">
            <a:normAutofit/>
          </a:bodyPr>
          <a:lstStyle/>
          <a:p>
            <a:pPr indent="0" marL="0">
              <a:buNone/>
            </a:pPr>
            <a:r>
              <a:rPr lang="en-US" sz="2800" b="1" dirty="0">
                <a:solidFill>
                  <a:srgbClr val="0B1B2C"/>
                </a:solidFill>
                <a:latin typeface="Avenir Next" pitchFamily="34" charset="0"/>
                <a:ea typeface="Avenir Next" pitchFamily="34" charset="-122"/>
                <a:cs typeface="Avenir Next" pitchFamily="34" charset="-120"/>
              </a:rPr>
              <a:t>SAML-D</a:t>
            </a:r>
            <a:endParaRPr lang="en-US" sz="2800" dirty="0"/>
          </a:p>
        </p:txBody>
      </p:sp>
      <p:sp>
        <p:nvSpPr>
          <p:cNvPr id="7" name="Text 5"/>
          <p:cNvSpPr/>
          <p:nvPr/>
        </p:nvSpPr>
        <p:spPr>
          <a:xfrm>
            <a:off x="640080" y="1929384"/>
            <a:ext cx="10789920" cy="420624"/>
          </a:xfrm>
          <a:prstGeom prst="rect">
            <a:avLst/>
          </a:prstGeom>
          <a:noFill/>
          <a:ln/>
        </p:spPr>
        <p:txBody>
          <a:bodyPr wrap="square" lIns="0" tIns="0" rIns="0" bIns="0" rtlCol="0" anchor="ctr">
            <a:normAutofit/>
          </a:bodyPr>
          <a:lstStyle/>
          <a:p>
            <a:pPr indent="0" marL="0">
              <a:buNone/>
            </a:pPr>
            <a:r>
              <a:rPr lang="en-US" sz="2000" dirty="0">
                <a:solidFill>
                  <a:srgbClr val="162536"/>
                </a:solidFill>
                <a:latin typeface="Avenir Next" pitchFamily="34" charset="0"/>
                <a:ea typeface="Avenir Next" pitchFamily="34" charset="-122"/>
                <a:cs typeface="Avenir Next" pitchFamily="34" charset="-120"/>
              </a:rPr>
              <a:t>9,504,852 transactions   ·   9,873 positive synthetic labels (0.104%)</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724912"/>
          <a:ext cx="10927080" cy="2487168"/>
        </p:xfrm>
        <a:graphic>
          <a:graphicData uri="http://schemas.openxmlformats.org/drawingml/2006/table">
            <a:tbl>
              <a:tblPr/>
              <a:tblGrid>
                <a:gridCol w="1554480"/>
                <a:gridCol w="3657600"/>
                <a:gridCol w="2057400"/>
                <a:gridCol w="1645920"/>
                <a:gridCol w="2011680"/>
              </a:tblGrid>
              <a:tr h="621792">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Period</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Dates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Rows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Positives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Positive rate</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r>
              <a:tr h="621792">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Training</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Oct 7, 2022 to May 18, 2023</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6,661,223</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6,774</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0.1017%</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Validation</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May 19 to Jul 5, 2023</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1,430,805</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1,416</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0.0990%</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r>
              <a:tr h="621792">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Test</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Jul 6 to Aug 23, 2023</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1,412,824</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1,683</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0.1191%</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bl>
          </a:graphicData>
        </a:graphic>
      </p:graphicFrame>
      <p:sp>
        <p:nvSpPr>
          <p:cNvPr id="9" name="Text 6"/>
          <p:cNvSpPr/>
          <p:nvPr/>
        </p:nvSpPr>
        <p:spPr>
          <a:xfrm>
            <a:off x="640080" y="5513832"/>
            <a:ext cx="10835640" cy="566928"/>
          </a:xfrm>
          <a:prstGeom prst="rect">
            <a:avLst/>
          </a:prstGeom>
          <a:noFill/>
          <a:ln/>
        </p:spPr>
        <p:txBody>
          <a:bodyPr wrap="square" lIns="0" tIns="0" rIns="0" bIns="0" rtlCol="0" anchor="ctr">
            <a:normAutofit/>
          </a:bodyPr>
          <a:lstStyle/>
          <a:p>
            <a:pPr indent="0" marL="0">
              <a:buNone/>
            </a:pPr>
            <a:r>
              <a:rPr lang="en-US" sz="1800" dirty="0">
                <a:solidFill>
                  <a:srgbClr val="526577"/>
                </a:solidFill>
                <a:latin typeface="Avenir Next" pitchFamily="34" charset="0"/>
                <a:ea typeface="Avenir Next" pitchFamily="34" charset="-122"/>
                <a:cs typeface="Avenir Next" pitchFamily="34" charset="-120"/>
              </a:rPr>
              <a:t>Complete days stay in order. The test period is later than every training and threshold decision.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Features and leakage controls</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10</a:t>
            </a:r>
            <a:endParaRPr lang="en-US" sz="1000" dirty="0"/>
          </a:p>
        </p:txBody>
      </p:sp>
      <p:sp>
        <p:nvSpPr>
          <p:cNvPr id="6" name="Text 4"/>
          <p:cNvSpPr/>
          <p:nvPr/>
        </p:nvSpPr>
        <p:spPr>
          <a:xfrm>
            <a:off x="685800" y="1508760"/>
            <a:ext cx="5029200" cy="448056"/>
          </a:xfrm>
          <a:prstGeom prst="rect">
            <a:avLst/>
          </a:prstGeom>
          <a:noFill/>
          <a:ln/>
        </p:spPr>
        <p:txBody>
          <a:bodyPr wrap="square" lIns="0" tIns="0" rIns="0" bIns="0" rtlCol="0" anchor="ctr">
            <a:normAutofit/>
          </a:bodyPr>
          <a:lstStyle/>
          <a:p>
            <a:pPr indent="0" marL="0">
              <a:buNone/>
            </a:pPr>
            <a:r>
              <a:rPr lang="en-US" sz="2100" b="1" dirty="0">
                <a:solidFill>
                  <a:srgbClr val="0B1B2C"/>
                </a:solidFill>
                <a:latin typeface="Avenir Next" pitchFamily="34" charset="0"/>
                <a:ea typeface="Avenir Next" pitchFamily="34" charset="-122"/>
                <a:cs typeface="Avenir Next" pitchFamily="34" charset="-120"/>
              </a:rPr>
              <a:t>Current transaction facts</a:t>
            </a:r>
            <a:endParaRPr lang="en-US" sz="2100" dirty="0"/>
          </a:p>
        </p:txBody>
      </p:sp>
      <p:sp>
        <p:nvSpPr>
          <p:cNvPr id="7" name="Text 5"/>
          <p:cNvSpPr/>
          <p:nvPr/>
        </p:nvSpPr>
        <p:spPr>
          <a:xfrm>
            <a:off x="685800" y="1993392"/>
            <a:ext cx="4983480" cy="859536"/>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Amount, payment type, currencies, bank locations, hour, weekday.</a:t>
            </a:r>
            <a:endParaRPr lang="en-US" sz="1900" dirty="0"/>
          </a:p>
        </p:txBody>
      </p:sp>
      <p:sp>
        <p:nvSpPr>
          <p:cNvPr id="8" name="Text 6"/>
          <p:cNvSpPr/>
          <p:nvPr/>
        </p:nvSpPr>
        <p:spPr>
          <a:xfrm>
            <a:off x="6217920" y="1508760"/>
            <a:ext cx="5029200" cy="448056"/>
          </a:xfrm>
          <a:prstGeom prst="rect">
            <a:avLst/>
          </a:prstGeom>
          <a:noFill/>
          <a:ln/>
        </p:spPr>
        <p:txBody>
          <a:bodyPr wrap="square" lIns="0" tIns="0" rIns="0" bIns="0" rtlCol="0" anchor="ctr">
            <a:normAutofit/>
          </a:bodyPr>
          <a:lstStyle/>
          <a:p>
            <a:pPr indent="0" marL="0">
              <a:buNone/>
            </a:pPr>
            <a:r>
              <a:rPr lang="en-US" sz="2100" b="1" dirty="0">
                <a:solidFill>
                  <a:srgbClr val="0B1B2C"/>
                </a:solidFill>
                <a:latin typeface="Avenir Next" pitchFamily="34" charset="0"/>
                <a:ea typeface="Avenir Next" pitchFamily="34" charset="-122"/>
                <a:cs typeface="Avenir Next" pitchFamily="34" charset="-120"/>
              </a:rPr>
              <a:t>Past activity only</a:t>
            </a:r>
            <a:endParaRPr lang="en-US" sz="2100" dirty="0"/>
          </a:p>
        </p:txBody>
      </p:sp>
      <p:sp>
        <p:nvSpPr>
          <p:cNvPr id="9" name="Text 7"/>
          <p:cNvSpPr/>
          <p:nvPr/>
        </p:nvSpPr>
        <p:spPr>
          <a:xfrm>
            <a:off x="6217920" y="1993392"/>
            <a:ext cx="4992624" cy="859536"/>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Sender, receiver and pair counts; earlier average amount; distinct counterparties.</a:t>
            </a:r>
            <a:endParaRPr lang="en-US" sz="1900" dirty="0"/>
          </a:p>
        </p:txBody>
      </p:sp>
      <p:sp>
        <p:nvSpPr>
          <p:cNvPr id="10" name="Shape 8"/>
          <p:cNvSpPr/>
          <p:nvPr/>
        </p:nvSpPr>
        <p:spPr>
          <a:xfrm>
            <a:off x="685800" y="3121304"/>
            <a:ext cx="10817352" cy="11887"/>
          </a:xfrm>
          <a:prstGeom prst="rect">
            <a:avLst/>
          </a:prstGeom>
          <a:solidFill>
            <a:srgbClr val="C8D4DB"/>
          </a:solidFill>
          <a:ln w="12700">
            <a:solidFill>
              <a:srgbClr val="C8D4DB">
                <a:alpha val="0"/>
              </a:srgbClr>
            </a:solidFill>
            <a:prstDash val="solid"/>
          </a:ln>
        </p:spPr>
      </p:sp>
      <p:sp>
        <p:nvSpPr>
          <p:cNvPr id="11" name="Text 9"/>
          <p:cNvSpPr/>
          <p:nvPr/>
        </p:nvSpPr>
        <p:spPr>
          <a:xfrm>
            <a:off x="685800" y="3410712"/>
            <a:ext cx="5029200" cy="448056"/>
          </a:xfrm>
          <a:prstGeom prst="rect">
            <a:avLst/>
          </a:prstGeom>
          <a:noFill/>
          <a:ln/>
        </p:spPr>
        <p:txBody>
          <a:bodyPr wrap="square" lIns="0" tIns="0" rIns="0" bIns="0" rtlCol="0" anchor="ctr">
            <a:normAutofit/>
          </a:bodyPr>
          <a:lstStyle/>
          <a:p>
            <a:pPr indent="0" marL="0">
              <a:buNone/>
            </a:pPr>
            <a:r>
              <a:rPr lang="en-US" sz="2100" b="1" dirty="0">
                <a:solidFill>
                  <a:srgbClr val="A96132"/>
                </a:solidFill>
                <a:latin typeface="Avenir Next" pitchFamily="34" charset="0"/>
                <a:ea typeface="Avenir Next" pitchFamily="34" charset="-122"/>
                <a:cs typeface="Avenir Next" pitchFamily="34" charset="-120"/>
              </a:rPr>
              <a:t>Excluded from model inputs</a:t>
            </a:r>
            <a:endParaRPr lang="en-US" sz="2100" dirty="0"/>
          </a:p>
        </p:txBody>
      </p:sp>
      <p:sp>
        <p:nvSpPr>
          <p:cNvPr id="12" name="Text 10"/>
          <p:cNvSpPr/>
          <p:nvPr/>
        </p:nvSpPr>
        <p:spPr>
          <a:xfrm>
            <a:off x="685800" y="3886200"/>
            <a:ext cx="4956048" cy="914400"/>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Raw account IDs, timestamp, target label and generated laundering typology.</a:t>
            </a:r>
            <a:endParaRPr lang="en-US" sz="1900" dirty="0"/>
          </a:p>
        </p:txBody>
      </p:sp>
      <p:sp>
        <p:nvSpPr>
          <p:cNvPr id="13" name="Text 11"/>
          <p:cNvSpPr/>
          <p:nvPr/>
        </p:nvSpPr>
        <p:spPr>
          <a:xfrm>
            <a:off x="6217920" y="3410712"/>
            <a:ext cx="5029200" cy="448056"/>
          </a:xfrm>
          <a:prstGeom prst="rect">
            <a:avLst/>
          </a:prstGeom>
          <a:noFill/>
          <a:ln/>
        </p:spPr>
        <p:txBody>
          <a:bodyPr wrap="square" lIns="0" tIns="0" rIns="0" bIns="0" rtlCol="0" anchor="ctr">
            <a:normAutofit/>
          </a:bodyPr>
          <a:lstStyle/>
          <a:p>
            <a:pPr indent="0" marL="0">
              <a:buNone/>
            </a:pPr>
            <a:r>
              <a:rPr lang="en-US" sz="2100" b="1" dirty="0">
                <a:solidFill>
                  <a:srgbClr val="087F8C"/>
                </a:solidFill>
                <a:latin typeface="Avenir Next" pitchFamily="34" charset="0"/>
                <a:ea typeface="Avenir Next" pitchFamily="34" charset="-122"/>
                <a:cs typeface="Avenir Next" pitchFamily="34" charset="-120"/>
              </a:rPr>
              <a:t>Temporal safeguard</a:t>
            </a:r>
            <a:endParaRPr lang="en-US" sz="2100" dirty="0"/>
          </a:p>
        </p:txBody>
      </p:sp>
      <p:sp>
        <p:nvSpPr>
          <p:cNvPr id="14" name="Text 12"/>
          <p:cNvSpPr/>
          <p:nvPr/>
        </p:nvSpPr>
        <p:spPr>
          <a:xfrm>
            <a:off x="6217920" y="3886200"/>
            <a:ext cx="5010912" cy="1170432"/>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Only events strictly before the row timestamp contribute to prior activity. Same-second rows do not see one another.</a:t>
            </a:r>
            <a:endParaRPr lang="en-US" sz="1900" dirty="0"/>
          </a:p>
        </p:txBody>
      </p:sp>
      <p:sp>
        <p:nvSpPr>
          <p:cNvPr id="15" name="Text 13"/>
          <p:cNvSpPr/>
          <p:nvPr/>
        </p:nvSpPr>
        <p:spPr>
          <a:xfrm>
            <a:off x="685800" y="5632704"/>
            <a:ext cx="10789920" cy="393192"/>
          </a:xfrm>
          <a:prstGeom prst="rect">
            <a:avLst/>
          </a:prstGeom>
          <a:noFill/>
          <a:ln/>
        </p:spPr>
        <p:txBody>
          <a:bodyPr wrap="square" lIns="0" tIns="0" rIns="0" bIns="0" rtlCol="0" anchor="ctr">
            <a:normAutofit/>
          </a:bodyPr>
          <a:lstStyle/>
          <a:p>
            <a:pPr indent="0" marL="0">
              <a:buNone/>
            </a:pPr>
            <a:r>
              <a:rPr lang="en-US" sz="1800" dirty="0">
                <a:solidFill>
                  <a:srgbClr val="526577"/>
                </a:solidFill>
                <a:latin typeface="Avenir Next" pitchFamily="34" charset="0"/>
                <a:ea typeface="Avenir Next" pitchFamily="34" charset="-122"/>
                <a:cs typeface="Avenir Next" pitchFamily="34" charset="-120"/>
              </a:rPr>
              <a:t>The typology field appears only in the post-score coverage audit.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Three detection tracks</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581912"/>
          <a:ext cx="10927080" cy="3337560"/>
        </p:xfrm>
        <a:graphic>
          <a:graphicData uri="http://schemas.openxmlformats.org/drawingml/2006/table">
            <a:tbl>
              <a:tblPr/>
              <a:tblGrid>
                <a:gridCol w="1737360"/>
                <a:gridCol w="2834640"/>
                <a:gridCol w="4663440"/>
                <a:gridCol w="1691640"/>
              </a:tblGrid>
              <a:tr h="834390">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Track</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Signal for classifiers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Standalone alert rule</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Test alerts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r>
              <a:tr h="834390">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  Rules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Three individual flags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Any of three rules fires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69,708</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r h="834390">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2  Anomaly</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Broad Isolation Forest score</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Behavior-focused IF; top 0.1% of validation scores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1,323</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r>
              <a:tr h="834390">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3  Network</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Prior fan-in/out + degree score</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Distinct relationships relative to pair repeats; top 0.1%</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2,075</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bl>
          </a:graphicData>
        </a:graphic>
      </p:graphicFrame>
      <p:sp>
        <p:nvSpPr>
          <p:cNvPr id="7" name="Text 4"/>
          <p:cNvSpPr/>
          <p:nvPr/>
        </p:nvSpPr>
        <p:spPr>
          <a:xfrm>
            <a:off x="667512" y="5148072"/>
            <a:ext cx="2926080" cy="411480"/>
          </a:xfrm>
          <a:prstGeom prst="rect">
            <a:avLst/>
          </a:prstGeom>
          <a:noFill/>
          <a:ln/>
        </p:spPr>
        <p:txBody>
          <a:bodyPr wrap="square" lIns="0" tIns="0" rIns="0" bIns="0" rtlCol="0" anchor="ctr">
            <a:normAutofit/>
          </a:bodyPr>
          <a:lstStyle/>
          <a:p>
            <a:pPr indent="0" marL="0">
              <a:buNone/>
            </a:pPr>
            <a:r>
              <a:rPr lang="en-US" sz="2000" b="1" dirty="0">
                <a:solidFill>
                  <a:srgbClr val="087F8C"/>
                </a:solidFill>
                <a:latin typeface="Avenir Next" pitchFamily="34" charset="0"/>
                <a:ea typeface="Avenir Next" pitchFamily="34" charset="-122"/>
                <a:cs typeface="Avenir Next" pitchFamily="34" charset="-120"/>
              </a:rPr>
              <a:t>Important distinction</a:t>
            </a:r>
            <a:endParaRPr lang="en-US" sz="2000" dirty="0"/>
          </a:p>
        </p:txBody>
      </p:sp>
      <p:sp>
        <p:nvSpPr>
          <p:cNvPr id="8" name="Text 5"/>
          <p:cNvSpPr/>
          <p:nvPr/>
        </p:nvSpPr>
        <p:spPr>
          <a:xfrm>
            <a:off x="667512" y="5577840"/>
            <a:ext cx="10744200" cy="475488"/>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The alert-focused anomaly and network scores do not change the shared classifier inputs.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Model selection and thresholding</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12</a:t>
            </a:r>
            <a:endParaRPr lang="en-US" sz="1000" dirty="0"/>
          </a:p>
        </p:txBody>
      </p:sp>
      <p:sp>
        <p:nvSpPr>
          <p:cNvPr id="6" name="Text 4"/>
          <p:cNvSpPr/>
          <p:nvPr/>
        </p:nvSpPr>
        <p:spPr>
          <a:xfrm>
            <a:off x="676656" y="1399032"/>
            <a:ext cx="365760" cy="484632"/>
          </a:xfrm>
          <a:prstGeom prst="rect">
            <a:avLst/>
          </a:prstGeom>
          <a:noFill/>
          <a:ln/>
        </p:spPr>
        <p:txBody>
          <a:bodyPr wrap="square" lIns="0" tIns="0" rIns="0" bIns="0" rtlCol="0" anchor="ctr">
            <a:normAutofit/>
          </a:bodyPr>
          <a:lstStyle/>
          <a:p>
            <a:pPr indent="0" marL="0">
              <a:buNone/>
            </a:pPr>
            <a:r>
              <a:rPr lang="en-US" sz="2400" b="1" dirty="0">
                <a:solidFill>
                  <a:srgbClr val="087F8C"/>
                </a:solidFill>
                <a:latin typeface="Avenir Next" pitchFamily="34" charset="0"/>
                <a:ea typeface="Avenir Next" pitchFamily="34" charset="-122"/>
                <a:cs typeface="Avenir Next" pitchFamily="34" charset="-120"/>
              </a:rPr>
              <a:t>1</a:t>
            </a:r>
            <a:endParaRPr lang="en-US" sz="2400" dirty="0"/>
          </a:p>
        </p:txBody>
      </p:sp>
      <p:sp>
        <p:nvSpPr>
          <p:cNvPr id="7" name="Shape 5"/>
          <p:cNvSpPr/>
          <p:nvPr/>
        </p:nvSpPr>
        <p:spPr>
          <a:xfrm>
            <a:off x="1170432" y="1914296"/>
            <a:ext cx="10314432" cy="11887"/>
          </a:xfrm>
          <a:prstGeom prst="rect">
            <a:avLst/>
          </a:prstGeom>
          <a:solidFill>
            <a:srgbClr val="C8D4DB"/>
          </a:solidFill>
          <a:ln w="12700">
            <a:solidFill>
              <a:srgbClr val="C8D4DB">
                <a:alpha val="0"/>
              </a:srgbClr>
            </a:solidFill>
            <a:prstDash val="solid"/>
          </a:ln>
        </p:spPr>
      </p:sp>
      <p:sp>
        <p:nvSpPr>
          <p:cNvPr id="8" name="Text 6"/>
          <p:cNvSpPr/>
          <p:nvPr/>
        </p:nvSpPr>
        <p:spPr>
          <a:xfrm>
            <a:off x="1408176" y="1399032"/>
            <a:ext cx="3218688" cy="457200"/>
          </a:xfrm>
          <a:prstGeom prst="rect">
            <a:avLst/>
          </a:prstGeom>
          <a:noFill/>
          <a:ln/>
        </p:spPr>
        <p:txBody>
          <a:bodyPr wrap="square" lIns="0" tIns="0" rIns="0" bIns="0" rtlCol="0" anchor="ctr">
            <a:normAutofit/>
          </a:bodyPr>
          <a:lstStyle/>
          <a:p>
            <a:pPr indent="0" marL="0">
              <a:buNone/>
            </a:pPr>
            <a:r>
              <a:rPr lang="en-US" sz="2000" b="1" dirty="0">
                <a:solidFill>
                  <a:srgbClr val="0B1B2C"/>
                </a:solidFill>
                <a:latin typeface="Avenir Next" pitchFamily="34" charset="0"/>
                <a:ea typeface="Avenir Next" pitchFamily="34" charset="-122"/>
                <a:cs typeface="Avenir Next" pitchFamily="34" charset="-120"/>
              </a:rPr>
              <a:t>Expanding time folds</a:t>
            </a:r>
            <a:endParaRPr lang="en-US" sz="2000" dirty="0"/>
          </a:p>
        </p:txBody>
      </p:sp>
      <p:sp>
        <p:nvSpPr>
          <p:cNvPr id="9" name="Text 7"/>
          <p:cNvSpPr/>
          <p:nvPr/>
        </p:nvSpPr>
        <p:spPr>
          <a:xfrm>
            <a:off x="4645152" y="1399032"/>
            <a:ext cx="6784848" cy="457200"/>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Mean AP compares ranking on later training windows</a:t>
            </a:r>
            <a:endParaRPr lang="en-US" sz="1800" dirty="0"/>
          </a:p>
        </p:txBody>
      </p:sp>
      <p:sp>
        <p:nvSpPr>
          <p:cNvPr id="10" name="Text 8"/>
          <p:cNvSpPr/>
          <p:nvPr/>
        </p:nvSpPr>
        <p:spPr>
          <a:xfrm>
            <a:off x="676656" y="2468880"/>
            <a:ext cx="365760" cy="484632"/>
          </a:xfrm>
          <a:prstGeom prst="rect">
            <a:avLst/>
          </a:prstGeom>
          <a:noFill/>
          <a:ln/>
        </p:spPr>
        <p:txBody>
          <a:bodyPr wrap="square" lIns="0" tIns="0" rIns="0" bIns="0" rtlCol="0" anchor="ctr">
            <a:normAutofit/>
          </a:bodyPr>
          <a:lstStyle/>
          <a:p>
            <a:pPr indent="0" marL="0">
              <a:buNone/>
            </a:pPr>
            <a:r>
              <a:rPr lang="en-US" sz="2400" b="1" dirty="0">
                <a:solidFill>
                  <a:srgbClr val="087F8C"/>
                </a:solidFill>
                <a:latin typeface="Avenir Next" pitchFamily="34" charset="0"/>
                <a:ea typeface="Avenir Next" pitchFamily="34" charset="-122"/>
                <a:cs typeface="Avenir Next" pitchFamily="34" charset="-120"/>
              </a:rPr>
              <a:t>2</a:t>
            </a:r>
            <a:endParaRPr lang="en-US" sz="2400" dirty="0"/>
          </a:p>
        </p:txBody>
      </p:sp>
      <p:sp>
        <p:nvSpPr>
          <p:cNvPr id="11" name="Shape 9"/>
          <p:cNvSpPr/>
          <p:nvPr/>
        </p:nvSpPr>
        <p:spPr>
          <a:xfrm>
            <a:off x="1170432" y="2984144"/>
            <a:ext cx="10314432" cy="11887"/>
          </a:xfrm>
          <a:prstGeom prst="rect">
            <a:avLst/>
          </a:prstGeom>
          <a:solidFill>
            <a:srgbClr val="C8D4DB"/>
          </a:solidFill>
          <a:ln w="12700">
            <a:solidFill>
              <a:srgbClr val="C8D4DB">
                <a:alpha val="0"/>
              </a:srgbClr>
            </a:solidFill>
            <a:prstDash val="solid"/>
          </a:ln>
        </p:spPr>
      </p:sp>
      <p:sp>
        <p:nvSpPr>
          <p:cNvPr id="12" name="Text 10"/>
          <p:cNvSpPr/>
          <p:nvPr/>
        </p:nvSpPr>
        <p:spPr>
          <a:xfrm>
            <a:off x="1408176" y="2468880"/>
            <a:ext cx="3218688" cy="457200"/>
          </a:xfrm>
          <a:prstGeom prst="rect">
            <a:avLst/>
          </a:prstGeom>
          <a:noFill/>
          <a:ln/>
        </p:spPr>
        <p:txBody>
          <a:bodyPr wrap="square" lIns="0" tIns="0" rIns="0" bIns="0" rtlCol="0" anchor="ctr">
            <a:normAutofit/>
          </a:bodyPr>
          <a:lstStyle/>
          <a:p>
            <a:pPr indent="0" marL="0">
              <a:buNone/>
            </a:pPr>
            <a:r>
              <a:rPr lang="en-US" sz="2000" b="1" dirty="0">
                <a:solidFill>
                  <a:srgbClr val="0B1B2C"/>
                </a:solidFill>
                <a:latin typeface="Avenir Next" pitchFamily="34" charset="0"/>
                <a:ea typeface="Avenir Next" pitchFamily="34" charset="-122"/>
                <a:cs typeface="Avenir Next" pitchFamily="34" charset="-120"/>
              </a:rPr>
              <a:t>Full training fit</a:t>
            </a:r>
            <a:endParaRPr lang="en-US" sz="2000" dirty="0"/>
          </a:p>
        </p:txBody>
      </p:sp>
      <p:sp>
        <p:nvSpPr>
          <p:cNvPr id="13" name="Text 11"/>
          <p:cNvSpPr/>
          <p:nvPr/>
        </p:nvSpPr>
        <p:spPr>
          <a:xfrm>
            <a:off x="4645152" y="2468880"/>
            <a:ext cx="6784848" cy="457200"/>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Each model refits on all training rows</a:t>
            </a:r>
            <a:endParaRPr lang="en-US" sz="1800" dirty="0"/>
          </a:p>
        </p:txBody>
      </p:sp>
      <p:sp>
        <p:nvSpPr>
          <p:cNvPr id="14" name="Text 12"/>
          <p:cNvSpPr/>
          <p:nvPr/>
        </p:nvSpPr>
        <p:spPr>
          <a:xfrm>
            <a:off x="676656" y="3538728"/>
            <a:ext cx="365760" cy="484632"/>
          </a:xfrm>
          <a:prstGeom prst="rect">
            <a:avLst/>
          </a:prstGeom>
          <a:noFill/>
          <a:ln/>
        </p:spPr>
        <p:txBody>
          <a:bodyPr wrap="square" lIns="0" tIns="0" rIns="0" bIns="0" rtlCol="0" anchor="ctr">
            <a:normAutofit/>
          </a:bodyPr>
          <a:lstStyle/>
          <a:p>
            <a:pPr indent="0" marL="0">
              <a:buNone/>
            </a:pPr>
            <a:r>
              <a:rPr lang="en-US" sz="2400" b="1" dirty="0">
                <a:solidFill>
                  <a:srgbClr val="087F8C"/>
                </a:solidFill>
                <a:latin typeface="Avenir Next" pitchFamily="34" charset="0"/>
                <a:ea typeface="Avenir Next" pitchFamily="34" charset="-122"/>
                <a:cs typeface="Avenir Next" pitchFamily="34" charset="-120"/>
              </a:rPr>
              <a:t>3</a:t>
            </a:r>
            <a:endParaRPr lang="en-US" sz="2400" dirty="0"/>
          </a:p>
        </p:txBody>
      </p:sp>
      <p:sp>
        <p:nvSpPr>
          <p:cNvPr id="15" name="Shape 13"/>
          <p:cNvSpPr/>
          <p:nvPr/>
        </p:nvSpPr>
        <p:spPr>
          <a:xfrm>
            <a:off x="1170432" y="4053992"/>
            <a:ext cx="10314432" cy="11887"/>
          </a:xfrm>
          <a:prstGeom prst="rect">
            <a:avLst/>
          </a:prstGeom>
          <a:solidFill>
            <a:srgbClr val="C8D4DB"/>
          </a:solidFill>
          <a:ln w="12700">
            <a:solidFill>
              <a:srgbClr val="C8D4DB">
                <a:alpha val="0"/>
              </a:srgbClr>
            </a:solidFill>
            <a:prstDash val="solid"/>
          </a:ln>
        </p:spPr>
      </p:sp>
      <p:sp>
        <p:nvSpPr>
          <p:cNvPr id="16" name="Text 14"/>
          <p:cNvSpPr/>
          <p:nvPr/>
        </p:nvSpPr>
        <p:spPr>
          <a:xfrm>
            <a:off x="1408176" y="3538728"/>
            <a:ext cx="3218688" cy="457200"/>
          </a:xfrm>
          <a:prstGeom prst="rect">
            <a:avLst/>
          </a:prstGeom>
          <a:noFill/>
          <a:ln/>
        </p:spPr>
        <p:txBody>
          <a:bodyPr wrap="square" lIns="0" tIns="0" rIns="0" bIns="0" rtlCol="0" anchor="ctr">
            <a:normAutofit/>
          </a:bodyPr>
          <a:lstStyle/>
          <a:p>
            <a:pPr indent="0" marL="0">
              <a:buNone/>
            </a:pPr>
            <a:r>
              <a:rPr lang="en-US" sz="2000" b="1" dirty="0">
                <a:solidFill>
                  <a:srgbClr val="0B1B2C"/>
                </a:solidFill>
                <a:latin typeface="Avenir Next" pitchFamily="34" charset="0"/>
                <a:ea typeface="Avenir Next" pitchFamily="34" charset="-122"/>
                <a:cs typeface="Avenir Next" pitchFamily="34" charset="-120"/>
              </a:rPr>
              <a:t>Validation threshold</a:t>
            </a:r>
            <a:endParaRPr lang="en-US" sz="2000" dirty="0"/>
          </a:p>
        </p:txBody>
      </p:sp>
      <p:sp>
        <p:nvSpPr>
          <p:cNvPr id="17" name="Text 15"/>
          <p:cNvSpPr/>
          <p:nvPr/>
        </p:nvSpPr>
        <p:spPr>
          <a:xfrm>
            <a:off x="4645152" y="3538728"/>
            <a:ext cx="6784848" cy="457200"/>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Each model chooses the threshold with highest F1</a:t>
            </a:r>
            <a:endParaRPr lang="en-US" sz="1800" dirty="0"/>
          </a:p>
        </p:txBody>
      </p:sp>
      <p:sp>
        <p:nvSpPr>
          <p:cNvPr id="18" name="Text 16"/>
          <p:cNvSpPr/>
          <p:nvPr/>
        </p:nvSpPr>
        <p:spPr>
          <a:xfrm>
            <a:off x="676656" y="4608576"/>
            <a:ext cx="365760" cy="484632"/>
          </a:xfrm>
          <a:prstGeom prst="rect">
            <a:avLst/>
          </a:prstGeom>
          <a:noFill/>
          <a:ln/>
        </p:spPr>
        <p:txBody>
          <a:bodyPr wrap="square" lIns="0" tIns="0" rIns="0" bIns="0" rtlCol="0" anchor="ctr">
            <a:normAutofit/>
          </a:bodyPr>
          <a:lstStyle/>
          <a:p>
            <a:pPr indent="0" marL="0">
              <a:buNone/>
            </a:pPr>
            <a:r>
              <a:rPr lang="en-US" sz="2400" b="1" dirty="0">
                <a:solidFill>
                  <a:srgbClr val="087F8C"/>
                </a:solidFill>
                <a:latin typeface="Avenir Next" pitchFamily="34" charset="0"/>
                <a:ea typeface="Avenir Next" pitchFamily="34" charset="-122"/>
                <a:cs typeface="Avenir Next" pitchFamily="34" charset="-120"/>
              </a:rPr>
              <a:t>4</a:t>
            </a:r>
            <a:endParaRPr lang="en-US" sz="2400" dirty="0"/>
          </a:p>
        </p:txBody>
      </p:sp>
      <p:sp>
        <p:nvSpPr>
          <p:cNvPr id="19" name="Shape 17"/>
          <p:cNvSpPr/>
          <p:nvPr/>
        </p:nvSpPr>
        <p:spPr>
          <a:xfrm>
            <a:off x="1170432" y="5123840"/>
            <a:ext cx="10314432" cy="11887"/>
          </a:xfrm>
          <a:prstGeom prst="rect">
            <a:avLst/>
          </a:prstGeom>
          <a:solidFill>
            <a:srgbClr val="C8D4DB"/>
          </a:solidFill>
          <a:ln w="12700">
            <a:solidFill>
              <a:srgbClr val="C8D4DB">
                <a:alpha val="0"/>
              </a:srgbClr>
            </a:solidFill>
            <a:prstDash val="solid"/>
          </a:ln>
        </p:spPr>
      </p:sp>
      <p:sp>
        <p:nvSpPr>
          <p:cNvPr id="20" name="Text 18"/>
          <p:cNvSpPr/>
          <p:nvPr/>
        </p:nvSpPr>
        <p:spPr>
          <a:xfrm>
            <a:off x="1408176" y="4608576"/>
            <a:ext cx="3218688" cy="457200"/>
          </a:xfrm>
          <a:prstGeom prst="rect">
            <a:avLst/>
          </a:prstGeom>
          <a:noFill/>
          <a:ln/>
        </p:spPr>
        <p:txBody>
          <a:bodyPr wrap="square" lIns="0" tIns="0" rIns="0" bIns="0" rtlCol="0" anchor="ctr">
            <a:normAutofit/>
          </a:bodyPr>
          <a:lstStyle/>
          <a:p>
            <a:pPr indent="0" marL="0">
              <a:buNone/>
            </a:pPr>
            <a:r>
              <a:rPr lang="en-US" sz="2000" b="1" dirty="0">
                <a:solidFill>
                  <a:srgbClr val="0B1B2C"/>
                </a:solidFill>
                <a:latin typeface="Avenir Next" pitchFamily="34" charset="0"/>
                <a:ea typeface="Avenir Next" pitchFamily="34" charset="-122"/>
                <a:cs typeface="Avenir Next" pitchFamily="34" charset="-120"/>
              </a:rPr>
              <a:t>Later test</a:t>
            </a:r>
            <a:endParaRPr lang="en-US" sz="2000" dirty="0"/>
          </a:p>
        </p:txBody>
      </p:sp>
      <p:sp>
        <p:nvSpPr>
          <p:cNvPr id="21" name="Text 19"/>
          <p:cNvSpPr/>
          <p:nvPr/>
        </p:nvSpPr>
        <p:spPr>
          <a:xfrm>
            <a:off x="4645152" y="4608576"/>
            <a:ext cx="6784848" cy="457200"/>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One held-out period supplies reported counts and rates</a:t>
            </a:r>
            <a:endParaRPr lang="en-US" sz="1800" dirty="0"/>
          </a:p>
        </p:txBody>
      </p:sp>
      <p:sp>
        <p:nvSpPr>
          <p:cNvPr id="22" name="Text 20"/>
          <p:cNvSpPr/>
          <p:nvPr/>
        </p:nvSpPr>
        <p:spPr>
          <a:xfrm>
            <a:off x="676656" y="5833872"/>
            <a:ext cx="1417320" cy="329184"/>
          </a:xfrm>
          <a:prstGeom prst="rect">
            <a:avLst/>
          </a:prstGeom>
          <a:noFill/>
          <a:ln/>
        </p:spPr>
        <p:txBody>
          <a:bodyPr wrap="square" lIns="0" tIns="0" rIns="0" bIns="0" rtlCol="0" anchor="ctr">
            <a:normAutofit/>
          </a:bodyPr>
          <a:lstStyle/>
          <a:p>
            <a:pPr indent="0" marL="0">
              <a:buNone/>
            </a:pPr>
            <a:r>
              <a:rPr lang="en-US" sz="1900" b="1" dirty="0">
                <a:solidFill>
                  <a:srgbClr val="A96132"/>
                </a:solidFill>
                <a:latin typeface="Avenir Next" pitchFamily="34" charset="0"/>
                <a:ea typeface="Avenir Next" pitchFamily="34" charset="-122"/>
                <a:cs typeface="Avenir Next" pitchFamily="34" charset="-120"/>
              </a:rPr>
              <a:t>Why AP?</a:t>
            </a:r>
            <a:endParaRPr lang="en-US" sz="1900" dirty="0"/>
          </a:p>
        </p:txBody>
      </p:sp>
      <p:sp>
        <p:nvSpPr>
          <p:cNvPr id="23" name="Text 21"/>
          <p:cNvSpPr/>
          <p:nvPr/>
        </p:nvSpPr>
        <p:spPr>
          <a:xfrm>
            <a:off x="2011680" y="5833872"/>
            <a:ext cx="9464040" cy="347472"/>
          </a:xfrm>
          <a:prstGeom prst="rect">
            <a:avLst/>
          </a:prstGeom>
          <a:noFill/>
          <a:ln/>
        </p:spPr>
        <p:txBody>
          <a:bodyPr wrap="square" lIns="0" tIns="0" rIns="0" bIns="0" rtlCol="0" anchor="ctr">
            <a:normAutofit/>
          </a:bodyPr>
          <a:lstStyle/>
          <a:p>
            <a:pPr indent="0" marL="0">
              <a:buNone/>
            </a:pPr>
            <a:r>
              <a:rPr lang="en-US" sz="1700" dirty="0">
                <a:solidFill>
                  <a:srgbClr val="162536"/>
                </a:solidFill>
                <a:latin typeface="Avenir Next" pitchFamily="34" charset="0"/>
                <a:ea typeface="Avenir Next" pitchFamily="34" charset="-122"/>
                <a:cs typeface="Avenir Next" pitchFamily="34" charset="-120"/>
              </a:rPr>
              <a:t>The positive class is 0.104% of the dataset, so ranking quality and alert workload both matter.</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XGBoost leads the later test comparison</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1792" y="1554480"/>
          <a:ext cx="10972800" cy="3017520"/>
        </p:xfrm>
        <a:graphic>
          <a:graphicData uri="http://schemas.openxmlformats.org/drawingml/2006/table">
            <a:tbl>
              <a:tblPr/>
              <a:tblGrid>
                <a:gridCol w="2514600"/>
                <a:gridCol w="1170432"/>
                <a:gridCol w="1508760"/>
                <a:gridCol w="1325880"/>
                <a:gridCol w="1234440"/>
                <a:gridCol w="1371600"/>
                <a:gridCol w="1664208"/>
              </a:tblGrid>
              <a:tr h="754380">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Model</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AP</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Precision</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Recall</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F1</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FPR</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Alerts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r>
              <a:tr h="754380">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Logistic regression</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0.3176</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44.2%</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29.8%</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0.3557</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0.0449%</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1,134</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r h="754380">
                <a:tc>
                  <a:txBody>
                    <a:bodyPr/>
                    <a:lstStyle/>
                    <a:p>
                      <a:pPr indent="0" marL="0">
                        <a:buNone/>
                      </a:pPr>
                      <a:r>
                        <a:rPr lang="en-US" sz="1500" b="1" dirty="0">
                          <a:solidFill>
                            <a:srgbClr val="162536"/>
                          </a:solidFill>
                          <a:latin typeface="Avenir Next" pitchFamily="34" charset="0"/>
                          <a:ea typeface="Avenir Next" pitchFamily="34" charset="-122"/>
                          <a:cs typeface="Avenir Next" pitchFamily="34" charset="-120"/>
                        </a:rPr>
                        <a:t>XGBoost</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500" b="1" dirty="0">
                          <a:solidFill>
                            <a:srgbClr val="162536"/>
                          </a:solidFill>
                          <a:latin typeface="Avenir Next" pitchFamily="34" charset="0"/>
                          <a:ea typeface="Avenir Next" pitchFamily="34" charset="-122"/>
                          <a:cs typeface="Avenir Next" pitchFamily="34" charset="-120"/>
                        </a:rPr>
                        <a:t>0.9900</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500" b="1" dirty="0">
                          <a:solidFill>
                            <a:srgbClr val="162536"/>
                          </a:solidFill>
                          <a:latin typeface="Avenir Next" pitchFamily="34" charset="0"/>
                          <a:ea typeface="Avenir Next" pitchFamily="34" charset="-122"/>
                          <a:cs typeface="Avenir Next" pitchFamily="34" charset="-120"/>
                        </a:rPr>
                        <a:t>96.6%</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500" b="1" dirty="0">
                          <a:solidFill>
                            <a:srgbClr val="162536"/>
                          </a:solidFill>
                          <a:latin typeface="Avenir Next" pitchFamily="34" charset="0"/>
                          <a:ea typeface="Avenir Next" pitchFamily="34" charset="-122"/>
                          <a:cs typeface="Avenir Next" pitchFamily="34" charset="-120"/>
                        </a:rPr>
                        <a:t>98.0%</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500" b="1" dirty="0">
                          <a:solidFill>
                            <a:srgbClr val="162536"/>
                          </a:solidFill>
                          <a:latin typeface="Avenir Next" pitchFamily="34" charset="0"/>
                          <a:ea typeface="Avenir Next" pitchFamily="34" charset="-122"/>
                          <a:cs typeface="Avenir Next" pitchFamily="34" charset="-120"/>
                        </a:rPr>
                        <a:t>0.9732</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500" b="1" dirty="0">
                          <a:solidFill>
                            <a:srgbClr val="162536"/>
                          </a:solidFill>
                          <a:latin typeface="Avenir Next" pitchFamily="34" charset="0"/>
                          <a:ea typeface="Avenir Next" pitchFamily="34" charset="-122"/>
                          <a:cs typeface="Avenir Next" pitchFamily="34" charset="-120"/>
                        </a:rPr>
                        <a:t>0.0041%</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500" b="1" dirty="0">
                          <a:solidFill>
                            <a:srgbClr val="162536"/>
                          </a:solidFill>
                          <a:latin typeface="Avenir Next" pitchFamily="34" charset="0"/>
                          <a:ea typeface="Avenir Next" pitchFamily="34" charset="-122"/>
                          <a:cs typeface="Avenir Next" pitchFamily="34" charset="-120"/>
                        </a:rPr>
                        <a:t>1,708</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r>
              <a:tr h="754380">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EBM</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0.7815</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81.5%</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65.9%</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0.7286</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0.0179%</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1,361</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bl>
          </a:graphicData>
        </a:graphic>
      </p:graphicFrame>
      <p:sp>
        <p:nvSpPr>
          <p:cNvPr id="7" name="Text 4"/>
          <p:cNvSpPr/>
          <p:nvPr/>
        </p:nvSpPr>
        <p:spPr>
          <a:xfrm>
            <a:off x="658368" y="4901184"/>
            <a:ext cx="5212080" cy="438912"/>
          </a:xfrm>
          <a:prstGeom prst="rect">
            <a:avLst/>
          </a:prstGeom>
          <a:noFill/>
          <a:ln/>
        </p:spPr>
        <p:txBody>
          <a:bodyPr wrap="square" lIns="0" tIns="0" rIns="0" bIns="0" rtlCol="0" anchor="ctr">
            <a:normAutofit/>
          </a:bodyPr>
          <a:lstStyle/>
          <a:p>
            <a:pPr indent="0" marL="0">
              <a:buNone/>
            </a:pPr>
            <a:r>
              <a:rPr lang="en-US" sz="2100" b="1" dirty="0">
                <a:solidFill>
                  <a:srgbClr val="087F8C"/>
                </a:solidFill>
                <a:latin typeface="Avenir Next" pitchFamily="34" charset="0"/>
                <a:ea typeface="Avenir Next" pitchFamily="34" charset="-122"/>
                <a:cs typeface="Avenir Next" pitchFamily="34" charset="-120"/>
              </a:rPr>
              <a:t>XGBoost at its validation threshold</a:t>
            </a:r>
            <a:endParaRPr lang="en-US" sz="2100" dirty="0"/>
          </a:p>
        </p:txBody>
      </p:sp>
      <p:sp>
        <p:nvSpPr>
          <p:cNvPr id="8" name="Text 5"/>
          <p:cNvSpPr/>
          <p:nvPr/>
        </p:nvSpPr>
        <p:spPr>
          <a:xfrm>
            <a:off x="658368" y="5431536"/>
            <a:ext cx="10835640" cy="475488"/>
          </a:xfrm>
          <a:prstGeom prst="rect">
            <a:avLst/>
          </a:prstGeom>
          <a:noFill/>
          <a:ln/>
        </p:spPr>
        <p:txBody>
          <a:bodyPr wrap="square" lIns="0" tIns="0" rIns="0" bIns="0" rtlCol="0" anchor="ctr">
            <a:normAutofit/>
          </a:bodyPr>
          <a:lstStyle/>
          <a:p>
            <a:pPr indent="0" marL="0">
              <a:buNone/>
            </a:pPr>
            <a:r>
              <a:rPr lang="en-US" sz="2000" dirty="0">
                <a:solidFill>
                  <a:srgbClr val="162536"/>
                </a:solidFill>
                <a:latin typeface="Avenir Next" pitchFamily="34" charset="0"/>
                <a:ea typeface="Avenir Next" pitchFamily="34" charset="-122"/>
                <a:cs typeface="Avenir Next" pitchFamily="34" charset="-120"/>
              </a:rPr>
              <a:t>1,650 true-positive labels   ·   58 false alerts   ·   33 positive labels missed</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SAML-D XGBoost: earlier versus current</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14</a:t>
            </a:r>
            <a:endParaRPr lang="en-US" sz="1000" dirty="0"/>
          </a:p>
        </p:txBody>
      </p:sp>
      <p:sp>
        <p:nvSpPr>
          <p:cNvPr id="6" name="Text 4"/>
          <p:cNvSpPr/>
          <p:nvPr/>
        </p:nvSpPr>
        <p:spPr>
          <a:xfrm>
            <a:off x="658368" y="1307592"/>
            <a:ext cx="10881360" cy="429768"/>
          </a:xfrm>
          <a:prstGeom prst="rect">
            <a:avLst/>
          </a:prstGeom>
          <a:noFill/>
          <a:ln/>
        </p:spPr>
        <p:txBody>
          <a:bodyPr wrap="square" lIns="0" tIns="0" rIns="0" bIns="0" rtlCol="0" anchor="ctr">
            <a:normAutofit/>
          </a:bodyPr>
          <a:lstStyle/>
          <a:p>
            <a:pPr indent="0" marL="0">
              <a:buNone/>
            </a:pPr>
            <a:r>
              <a:rPr lang="en-US" sz="1800" dirty="0">
                <a:solidFill>
                  <a:srgbClr val="526577"/>
                </a:solidFill>
                <a:latin typeface="Avenir Next" pitchFamily="34" charset="0"/>
                <a:ea typeface="Avenir Next" pitchFamily="34" charset="-122"/>
                <a:cs typeface="Avenir Next" pitchFamily="34" charset="-120"/>
              </a:rPr>
              <a:t>Same later test: 1,412,824 transactions  ·  1,683 positive labels</a:t>
            </a:r>
            <a:endParaRPr lang="en-US" sz="1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1792" y="1856232"/>
          <a:ext cx="10972800" cy="2185416"/>
        </p:xfrm>
        <a:graphic>
          <a:graphicData uri="http://schemas.openxmlformats.org/drawingml/2006/table">
            <a:tbl>
              <a:tblPr/>
              <a:tblGrid>
                <a:gridCol w="2103120"/>
                <a:gridCol w="914400"/>
                <a:gridCol w="1024128"/>
                <a:gridCol w="987552"/>
                <a:gridCol w="914400"/>
                <a:gridCol w="1097280"/>
                <a:gridCol w="1005840"/>
                <a:gridCol w="941832"/>
                <a:gridCol w="886968"/>
                <a:gridCol w="1097280"/>
              </a:tblGrid>
              <a:tr h="728472">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XGBoost run</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AP</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Precision</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Recall</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F1</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FPR</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Alerts</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Caught</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False</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300" b="1" dirty="0">
                          <a:solidFill>
                            <a:srgbClr val="FFFFFF"/>
                          </a:solidFill>
                          <a:latin typeface="Avenir Next" pitchFamily="34" charset="0"/>
                          <a:ea typeface="Avenir Next" pitchFamily="34" charset="-122"/>
                          <a:cs typeface="Avenir Next" pitchFamily="34" charset="-120"/>
                        </a:rPr>
                        <a:t>Missed</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r>
              <a:tr h="728472">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Earlier DS lane</a:t>
                      </a:r>
                      <a:endParaRPr lang="en-US" sz="1300" dirty="0">
                        <a:latin typeface="Avenir Next" charset="0"/>
                        <a:ea typeface="Avenir Next" charset="0"/>
                        <a:cs typeface="Avenir Next" charset="0"/>
                      </a:endParaRPr>
                    </a:p>
                    <a:p>
                      <a:pPr indent="0" marL="0">
                        <a:buNone/>
                      </a:pPr>
                      <a:r>
                        <a:rPr lang="en-US" sz="1300" dirty="0">
                          <a:solidFill>
                            <a:srgbClr val="162536"/>
                          </a:solidFill>
                          <a:latin typeface="Avenir Next" pitchFamily="34" charset="0"/>
                          <a:ea typeface="Avenir Next" pitchFamily="34" charset="-122"/>
                          <a:cs typeface="Avenir Next" pitchFamily="34" charset="-120"/>
                        </a:rPr>
                        <a:t>(Pattern 3-like)</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0.8959</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93.8%</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84.1%</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0.8872</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0.0066%</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1,509</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1,416</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93</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300" dirty="0">
                          <a:solidFill>
                            <a:srgbClr val="162536"/>
                          </a:solidFill>
                          <a:latin typeface="Avenir Next" pitchFamily="34" charset="0"/>
                          <a:ea typeface="Avenir Next" pitchFamily="34" charset="-122"/>
                          <a:cs typeface="Avenir Next" pitchFamily="34" charset="-120"/>
                        </a:rPr>
                        <a:t>267</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r h="728472">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Current MVP</a:t>
                      </a:r>
                      <a:endParaRPr lang="en-US" sz="1300" dirty="0">
                        <a:latin typeface="Avenir Next" charset="0"/>
                        <a:ea typeface="Avenir Next" charset="0"/>
                        <a:cs typeface="Avenir Next" charset="0"/>
                      </a:endParaRPr>
                    </a:p>
                    <a:p>
                      <a:pPr indent="0" marL="0">
                        <a:buNone/>
                      </a:pPr>
                      <a:r>
                        <a:rPr lang="en-US" sz="1300" b="1" dirty="0">
                          <a:solidFill>
                            <a:srgbClr val="162536"/>
                          </a:solidFill>
                          <a:latin typeface="Avenir Next" pitchFamily="34" charset="0"/>
                          <a:ea typeface="Avenir Next" pitchFamily="34" charset="-122"/>
                          <a:cs typeface="Avenir Next" pitchFamily="34" charset="-120"/>
                        </a:rPr>
                        <a:t>(Pattern 4 example)</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0.9900</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96.6%</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98.0%</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0.9732</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0.0041%</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1,708</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1,650</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58</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c>
                  <a:txBody>
                    <a:bodyPr/>
                    <a:lstStyle/>
                    <a:p>
                      <a:pPr indent="0" marL="0">
                        <a:buNone/>
                      </a:pPr>
                      <a:r>
                        <a:rPr lang="en-US" sz="1300" b="1" dirty="0">
                          <a:solidFill>
                            <a:srgbClr val="162536"/>
                          </a:solidFill>
                          <a:latin typeface="Avenir Next" pitchFamily="34" charset="0"/>
                          <a:ea typeface="Avenir Next" pitchFamily="34" charset="-122"/>
                          <a:cs typeface="Avenir Next" pitchFamily="34" charset="-120"/>
                        </a:rPr>
                        <a:t>33</a:t>
                      </a:r>
                      <a:endParaRPr lang="en-US" sz="13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DDF1F1"/>
                    </a:solidFill>
                  </a:tcPr>
                </a:tc>
              </a:tr>
            </a:tbl>
          </a:graphicData>
        </a:graphic>
      </p:graphicFrame>
      <p:sp>
        <p:nvSpPr>
          <p:cNvPr id="8" name="Text 5"/>
          <p:cNvSpPr/>
          <p:nvPr/>
        </p:nvSpPr>
        <p:spPr>
          <a:xfrm>
            <a:off x="713232" y="4389120"/>
            <a:ext cx="2377440" cy="566928"/>
          </a:xfrm>
          <a:prstGeom prst="rect">
            <a:avLst/>
          </a:prstGeom>
          <a:noFill/>
          <a:ln/>
        </p:spPr>
        <p:txBody>
          <a:bodyPr wrap="square" lIns="0" tIns="0" rIns="0" bIns="0" rtlCol="0" anchor="ctr">
            <a:normAutofit/>
          </a:bodyPr>
          <a:lstStyle/>
          <a:p>
            <a:pPr indent="0" marL="0">
              <a:buNone/>
            </a:pPr>
            <a:r>
              <a:rPr lang="en-US" sz="2900" b="1" dirty="0">
                <a:solidFill>
                  <a:srgbClr val="087F8C"/>
                </a:solidFill>
                <a:latin typeface="Avenir Next" pitchFamily="34" charset="0"/>
                <a:ea typeface="Avenir Next" pitchFamily="34" charset="-122"/>
                <a:cs typeface="Avenir Next" pitchFamily="34" charset="-120"/>
              </a:rPr>
              <a:t>+234</a:t>
            </a:r>
            <a:endParaRPr lang="en-US" sz="2900" dirty="0"/>
          </a:p>
        </p:txBody>
      </p:sp>
      <p:sp>
        <p:nvSpPr>
          <p:cNvPr id="9" name="Text 6"/>
          <p:cNvSpPr/>
          <p:nvPr/>
        </p:nvSpPr>
        <p:spPr>
          <a:xfrm>
            <a:off x="713232" y="4928616"/>
            <a:ext cx="2468880" cy="420624"/>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positive labels caught</a:t>
            </a:r>
            <a:endParaRPr lang="en-US" sz="1600" dirty="0"/>
          </a:p>
        </p:txBody>
      </p:sp>
      <p:sp>
        <p:nvSpPr>
          <p:cNvPr id="10" name="Text 7"/>
          <p:cNvSpPr/>
          <p:nvPr/>
        </p:nvSpPr>
        <p:spPr>
          <a:xfrm>
            <a:off x="3584448" y="4389120"/>
            <a:ext cx="2377440" cy="566928"/>
          </a:xfrm>
          <a:prstGeom prst="rect">
            <a:avLst/>
          </a:prstGeom>
          <a:noFill/>
          <a:ln/>
        </p:spPr>
        <p:txBody>
          <a:bodyPr wrap="square" lIns="0" tIns="0" rIns="0" bIns="0" rtlCol="0" anchor="ctr">
            <a:normAutofit/>
          </a:bodyPr>
          <a:lstStyle/>
          <a:p>
            <a:pPr indent="0" marL="0">
              <a:buNone/>
            </a:pPr>
            <a:r>
              <a:rPr lang="en-US" sz="2900" b="1" dirty="0">
                <a:solidFill>
                  <a:srgbClr val="087F8C"/>
                </a:solidFill>
                <a:latin typeface="Avenir Next" pitchFamily="34" charset="0"/>
                <a:ea typeface="Avenir Next" pitchFamily="34" charset="-122"/>
                <a:cs typeface="Avenir Next" pitchFamily="34" charset="-120"/>
              </a:rPr>
              <a:t>−234</a:t>
            </a:r>
            <a:endParaRPr lang="en-US" sz="2900" dirty="0"/>
          </a:p>
        </p:txBody>
      </p:sp>
      <p:sp>
        <p:nvSpPr>
          <p:cNvPr id="11" name="Text 8"/>
          <p:cNvSpPr/>
          <p:nvPr/>
        </p:nvSpPr>
        <p:spPr>
          <a:xfrm>
            <a:off x="3584448" y="4928616"/>
            <a:ext cx="2468880" cy="420624"/>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positive labels missed</a:t>
            </a:r>
            <a:endParaRPr lang="en-US" sz="1600" dirty="0"/>
          </a:p>
        </p:txBody>
      </p:sp>
      <p:sp>
        <p:nvSpPr>
          <p:cNvPr id="12" name="Text 9"/>
          <p:cNvSpPr/>
          <p:nvPr/>
        </p:nvSpPr>
        <p:spPr>
          <a:xfrm>
            <a:off x="6455664" y="4389120"/>
            <a:ext cx="2377440" cy="566928"/>
          </a:xfrm>
          <a:prstGeom prst="rect">
            <a:avLst/>
          </a:prstGeom>
          <a:noFill/>
          <a:ln/>
        </p:spPr>
        <p:txBody>
          <a:bodyPr wrap="square" lIns="0" tIns="0" rIns="0" bIns="0" rtlCol="0" anchor="ctr">
            <a:normAutofit/>
          </a:bodyPr>
          <a:lstStyle/>
          <a:p>
            <a:pPr indent="0" marL="0">
              <a:buNone/>
            </a:pPr>
            <a:r>
              <a:rPr lang="en-US" sz="2900" b="1" dirty="0">
                <a:solidFill>
                  <a:srgbClr val="087F8C"/>
                </a:solidFill>
                <a:latin typeface="Avenir Next" pitchFamily="34" charset="0"/>
                <a:ea typeface="Avenir Next" pitchFamily="34" charset="-122"/>
                <a:cs typeface="Avenir Next" pitchFamily="34" charset="-120"/>
              </a:rPr>
              <a:t>−35</a:t>
            </a:r>
            <a:endParaRPr lang="en-US" sz="2900" dirty="0"/>
          </a:p>
        </p:txBody>
      </p:sp>
      <p:sp>
        <p:nvSpPr>
          <p:cNvPr id="13" name="Text 10"/>
          <p:cNvSpPr/>
          <p:nvPr/>
        </p:nvSpPr>
        <p:spPr>
          <a:xfrm>
            <a:off x="6455664" y="4928616"/>
            <a:ext cx="2468880" cy="420624"/>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false alerts</a:t>
            </a:r>
            <a:endParaRPr lang="en-US" sz="1600" dirty="0"/>
          </a:p>
        </p:txBody>
      </p:sp>
      <p:sp>
        <p:nvSpPr>
          <p:cNvPr id="14" name="Text 11"/>
          <p:cNvSpPr/>
          <p:nvPr/>
        </p:nvSpPr>
        <p:spPr>
          <a:xfrm>
            <a:off x="9326880" y="4389120"/>
            <a:ext cx="2377440" cy="566928"/>
          </a:xfrm>
          <a:prstGeom prst="rect">
            <a:avLst/>
          </a:prstGeom>
          <a:noFill/>
          <a:ln/>
        </p:spPr>
        <p:txBody>
          <a:bodyPr wrap="square" lIns="0" tIns="0" rIns="0" bIns="0" rtlCol="0" anchor="ctr">
            <a:normAutofit/>
          </a:bodyPr>
          <a:lstStyle/>
          <a:p>
            <a:pPr indent="0" marL="0">
              <a:buNone/>
            </a:pPr>
            <a:r>
              <a:rPr lang="en-US" sz="2900" b="1" dirty="0">
                <a:solidFill>
                  <a:srgbClr val="A96132"/>
                </a:solidFill>
                <a:latin typeface="Avenir Next" pitchFamily="34" charset="0"/>
                <a:ea typeface="Avenir Next" pitchFamily="34" charset="-122"/>
                <a:cs typeface="Avenir Next" pitchFamily="34" charset="-120"/>
              </a:rPr>
              <a:t>+199</a:t>
            </a:r>
            <a:endParaRPr lang="en-US" sz="2900" dirty="0"/>
          </a:p>
        </p:txBody>
      </p:sp>
      <p:sp>
        <p:nvSpPr>
          <p:cNvPr id="15" name="Text 12"/>
          <p:cNvSpPr/>
          <p:nvPr/>
        </p:nvSpPr>
        <p:spPr>
          <a:xfrm>
            <a:off x="9326880" y="4928616"/>
            <a:ext cx="2468880" cy="420624"/>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total alerts</a:t>
            </a:r>
            <a:endParaRPr lang="en-US" sz="1600" dirty="0"/>
          </a:p>
        </p:txBody>
      </p:sp>
      <p:sp>
        <p:nvSpPr>
          <p:cNvPr id="16" name="Text 13"/>
          <p:cNvSpPr/>
          <p:nvPr/>
        </p:nvSpPr>
        <p:spPr>
          <a:xfrm>
            <a:off x="694944" y="5769864"/>
            <a:ext cx="10817352" cy="502920"/>
          </a:xfrm>
          <a:prstGeom prst="rect">
            <a:avLst/>
          </a:prstGeom>
          <a:noFill/>
          <a:ln/>
        </p:spPr>
        <p:txBody>
          <a:bodyPr wrap="square" lIns="0" tIns="0" rIns="0" bIns="0" rtlCol="0" anchor="ctr">
            <a:normAutofit/>
          </a:bodyPr>
          <a:lstStyle/>
          <a:p>
            <a:pPr indent="0" marL="0">
              <a:buNone/>
            </a:pPr>
            <a:r>
              <a:rPr lang="en-US" sz="1600" dirty="0">
                <a:solidFill>
                  <a:srgbClr val="526577"/>
                </a:solidFill>
                <a:latin typeface="Avenir Next" pitchFamily="34" charset="0"/>
                <a:ea typeface="Avenir Next" pitchFamily="34" charset="-122"/>
                <a:cs typeface="Avenir Next" pitchFamily="34" charset="-120"/>
              </a:rPr>
              <a:t>Pattern 3-like means the DS lane only. Historical runs changed features, so this is not a controlled ablation.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Precision and recall at the chosen thresholds</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15</a:t>
            </a:r>
            <a:endParaRPr lang="en-US" sz="1000" dirty="0"/>
          </a:p>
        </p:txBody>
      </p:sp>
      <p:sp>
        <p:nvSpPr>
          <p:cNvPr id="6" name="Text 4"/>
          <p:cNvSpPr/>
          <p:nvPr/>
        </p:nvSpPr>
        <p:spPr>
          <a:xfrm>
            <a:off x="2770632" y="1371600"/>
            <a:ext cx="1874520" cy="365760"/>
          </a:xfrm>
          <a:prstGeom prst="rect">
            <a:avLst/>
          </a:prstGeom>
          <a:noFill/>
          <a:ln/>
        </p:spPr>
        <p:txBody>
          <a:bodyPr wrap="square" lIns="0" tIns="0" rIns="0" bIns="0" rtlCol="0" anchor="ctr">
            <a:normAutofit/>
          </a:bodyPr>
          <a:lstStyle/>
          <a:p>
            <a:pPr indent="0" marL="0">
              <a:buNone/>
            </a:pPr>
            <a:r>
              <a:rPr lang="en-US" sz="1500" b="1" dirty="0">
                <a:solidFill>
                  <a:srgbClr val="087F8C"/>
                </a:solidFill>
                <a:latin typeface="Avenir Next" pitchFamily="34" charset="0"/>
                <a:ea typeface="Avenir Next" pitchFamily="34" charset="-122"/>
                <a:cs typeface="Avenir Next" pitchFamily="34" charset="-120"/>
              </a:rPr>
              <a:t>PRECISION</a:t>
            </a:r>
            <a:endParaRPr lang="en-US" sz="1500" dirty="0"/>
          </a:p>
        </p:txBody>
      </p:sp>
      <p:sp>
        <p:nvSpPr>
          <p:cNvPr id="7" name="Text 5"/>
          <p:cNvSpPr/>
          <p:nvPr/>
        </p:nvSpPr>
        <p:spPr>
          <a:xfrm>
            <a:off x="4709160" y="1371600"/>
            <a:ext cx="1600200" cy="365760"/>
          </a:xfrm>
          <a:prstGeom prst="rect">
            <a:avLst/>
          </a:prstGeom>
          <a:noFill/>
          <a:ln/>
        </p:spPr>
        <p:txBody>
          <a:bodyPr wrap="square" lIns="0" tIns="0" rIns="0" bIns="0" rtlCol="0" anchor="ctr">
            <a:normAutofit/>
          </a:bodyPr>
          <a:lstStyle/>
          <a:p>
            <a:pPr indent="0" marL="0">
              <a:buNone/>
            </a:pPr>
            <a:r>
              <a:rPr lang="en-US" sz="1500" b="1" dirty="0">
                <a:solidFill>
                  <a:srgbClr val="D79A57"/>
                </a:solidFill>
                <a:latin typeface="Avenir Next" pitchFamily="34" charset="0"/>
                <a:ea typeface="Avenir Next" pitchFamily="34" charset="-122"/>
                <a:cs typeface="Avenir Next" pitchFamily="34" charset="-120"/>
              </a:rPr>
              <a:t>RECALL</a:t>
            </a:r>
            <a:endParaRPr lang="en-US" sz="1500" dirty="0"/>
          </a:p>
        </p:txBody>
      </p:sp>
      <p:sp>
        <p:nvSpPr>
          <p:cNvPr id="8" name="Text 6"/>
          <p:cNvSpPr/>
          <p:nvPr/>
        </p:nvSpPr>
        <p:spPr>
          <a:xfrm>
            <a:off x="704088" y="2093976"/>
            <a:ext cx="1920240" cy="530352"/>
          </a:xfrm>
          <a:prstGeom prst="rect">
            <a:avLst/>
          </a:prstGeom>
          <a:noFill/>
          <a:ln/>
        </p:spPr>
        <p:txBody>
          <a:bodyPr wrap="square" lIns="0" tIns="0" rIns="0" bIns="0" rtlCol="0" anchor="ctr">
            <a:normAutofit/>
          </a:bodyPr>
          <a:lstStyle/>
          <a:p>
            <a:pPr indent="0" marL="0">
              <a:buNone/>
            </a:pPr>
            <a:r>
              <a:rPr lang="en-US" sz="1900" dirty="0">
                <a:solidFill>
                  <a:srgbClr val="0B1B2C"/>
                </a:solidFill>
                <a:latin typeface="Avenir Next" pitchFamily="34" charset="0"/>
                <a:ea typeface="Avenir Next" pitchFamily="34" charset="-122"/>
                <a:cs typeface="Avenir Next" pitchFamily="34" charset="-120"/>
              </a:rPr>
              <a:t>Logistic regression</a:t>
            </a:r>
            <a:endParaRPr lang="en-US" sz="1900" dirty="0"/>
          </a:p>
        </p:txBody>
      </p:sp>
      <p:sp>
        <p:nvSpPr>
          <p:cNvPr id="9" name="Shape 7"/>
          <p:cNvSpPr/>
          <p:nvPr/>
        </p:nvSpPr>
        <p:spPr>
          <a:xfrm>
            <a:off x="2743200" y="1938528"/>
            <a:ext cx="6876288" cy="228600"/>
          </a:xfrm>
          <a:prstGeom prst="rect">
            <a:avLst/>
          </a:prstGeom>
          <a:solidFill>
            <a:srgbClr val="E5EDF0"/>
          </a:solidFill>
          <a:ln w="12700">
            <a:solidFill>
              <a:srgbClr val="E5EDF0">
                <a:alpha val="0"/>
              </a:srgbClr>
            </a:solidFill>
            <a:prstDash val="solid"/>
          </a:ln>
        </p:spPr>
      </p:sp>
      <p:sp>
        <p:nvSpPr>
          <p:cNvPr id="10" name="Shape 8"/>
          <p:cNvSpPr/>
          <p:nvPr/>
        </p:nvSpPr>
        <p:spPr>
          <a:xfrm>
            <a:off x="2743200" y="1938528"/>
            <a:ext cx="3039319" cy="228600"/>
          </a:xfrm>
          <a:prstGeom prst="rect">
            <a:avLst/>
          </a:prstGeom>
          <a:solidFill>
            <a:srgbClr val="087F8C"/>
          </a:solidFill>
          <a:ln w="12700">
            <a:solidFill>
              <a:srgbClr val="087F8C">
                <a:alpha val="0"/>
              </a:srgbClr>
            </a:solidFill>
            <a:prstDash val="solid"/>
          </a:ln>
        </p:spPr>
      </p:sp>
      <p:sp>
        <p:nvSpPr>
          <p:cNvPr id="11" name="Text 9"/>
          <p:cNvSpPr/>
          <p:nvPr/>
        </p:nvSpPr>
        <p:spPr>
          <a:xfrm>
            <a:off x="9930384" y="1883664"/>
            <a:ext cx="1508760" cy="329184"/>
          </a:xfrm>
          <a:prstGeom prst="rect">
            <a:avLst/>
          </a:prstGeom>
          <a:noFill/>
          <a:ln/>
        </p:spPr>
        <p:txBody>
          <a:bodyPr wrap="square" lIns="0" tIns="0" rIns="0" bIns="0" rtlCol="0" anchor="ctr">
            <a:normAutofit/>
          </a:bodyPr>
          <a:lstStyle/>
          <a:p>
            <a:pPr indent="0" marL="0">
              <a:buNone/>
            </a:pPr>
            <a:r>
              <a:rPr lang="en-US" sz="1700" b="1" dirty="0">
                <a:solidFill>
                  <a:srgbClr val="162536"/>
                </a:solidFill>
                <a:latin typeface="Avenir Next" pitchFamily="34" charset="0"/>
                <a:ea typeface="Avenir Next" pitchFamily="34" charset="-122"/>
                <a:cs typeface="Avenir Next" pitchFamily="34" charset="-120"/>
              </a:rPr>
              <a:t>P  44.2%</a:t>
            </a:r>
            <a:endParaRPr lang="en-US" sz="1700" dirty="0"/>
          </a:p>
        </p:txBody>
      </p:sp>
      <p:sp>
        <p:nvSpPr>
          <p:cNvPr id="12" name="Shape 10"/>
          <p:cNvSpPr/>
          <p:nvPr/>
        </p:nvSpPr>
        <p:spPr>
          <a:xfrm>
            <a:off x="2743200" y="2295144"/>
            <a:ext cx="6876288" cy="228600"/>
          </a:xfrm>
          <a:prstGeom prst="rect">
            <a:avLst/>
          </a:prstGeom>
          <a:solidFill>
            <a:srgbClr val="E5EDF0"/>
          </a:solidFill>
          <a:ln w="12700">
            <a:solidFill>
              <a:srgbClr val="E5EDF0">
                <a:alpha val="0"/>
              </a:srgbClr>
            </a:solidFill>
            <a:prstDash val="solid"/>
          </a:ln>
        </p:spPr>
      </p:sp>
      <p:sp>
        <p:nvSpPr>
          <p:cNvPr id="13" name="Shape 11"/>
          <p:cNvSpPr/>
          <p:nvPr/>
        </p:nvSpPr>
        <p:spPr>
          <a:xfrm>
            <a:off x="2743200" y="2295144"/>
            <a:ext cx="2049134" cy="228600"/>
          </a:xfrm>
          <a:prstGeom prst="rect">
            <a:avLst/>
          </a:prstGeom>
          <a:solidFill>
            <a:srgbClr val="D79A57"/>
          </a:solidFill>
          <a:ln w="12700">
            <a:solidFill>
              <a:srgbClr val="D79A57">
                <a:alpha val="0"/>
              </a:srgbClr>
            </a:solidFill>
            <a:prstDash val="solid"/>
          </a:ln>
        </p:spPr>
      </p:sp>
      <p:sp>
        <p:nvSpPr>
          <p:cNvPr id="14" name="Text 12"/>
          <p:cNvSpPr/>
          <p:nvPr/>
        </p:nvSpPr>
        <p:spPr>
          <a:xfrm>
            <a:off x="9930384" y="2240280"/>
            <a:ext cx="1508760" cy="329184"/>
          </a:xfrm>
          <a:prstGeom prst="rect">
            <a:avLst/>
          </a:prstGeom>
          <a:noFill/>
          <a:ln/>
        </p:spPr>
        <p:txBody>
          <a:bodyPr wrap="square" lIns="0" tIns="0" rIns="0" bIns="0" rtlCol="0" anchor="ctr">
            <a:normAutofit/>
          </a:bodyPr>
          <a:lstStyle/>
          <a:p>
            <a:pPr indent="0" marL="0">
              <a:buNone/>
            </a:pPr>
            <a:r>
              <a:rPr lang="en-US" sz="1700" b="1" dirty="0">
                <a:solidFill>
                  <a:srgbClr val="162536"/>
                </a:solidFill>
                <a:latin typeface="Avenir Next" pitchFamily="34" charset="0"/>
                <a:ea typeface="Avenir Next" pitchFamily="34" charset="-122"/>
                <a:cs typeface="Avenir Next" pitchFamily="34" charset="-120"/>
              </a:rPr>
              <a:t>R  29.8%</a:t>
            </a:r>
            <a:endParaRPr lang="en-US" sz="1700" dirty="0"/>
          </a:p>
        </p:txBody>
      </p:sp>
      <p:sp>
        <p:nvSpPr>
          <p:cNvPr id="15" name="Text 13"/>
          <p:cNvSpPr/>
          <p:nvPr/>
        </p:nvSpPr>
        <p:spPr>
          <a:xfrm>
            <a:off x="704088" y="3401568"/>
            <a:ext cx="1920240" cy="530352"/>
          </a:xfrm>
          <a:prstGeom prst="rect">
            <a:avLst/>
          </a:prstGeom>
          <a:noFill/>
          <a:ln/>
        </p:spPr>
        <p:txBody>
          <a:bodyPr wrap="square" lIns="0" tIns="0" rIns="0" bIns="0" rtlCol="0" anchor="ctr">
            <a:normAutofit/>
          </a:bodyPr>
          <a:lstStyle/>
          <a:p>
            <a:pPr indent="0" marL="0">
              <a:buNone/>
            </a:pPr>
            <a:r>
              <a:rPr lang="en-US" sz="1900" b="1" dirty="0">
                <a:solidFill>
                  <a:srgbClr val="087F8C"/>
                </a:solidFill>
                <a:latin typeface="Avenir Next" pitchFamily="34" charset="0"/>
                <a:ea typeface="Avenir Next" pitchFamily="34" charset="-122"/>
                <a:cs typeface="Avenir Next" pitchFamily="34" charset="-120"/>
              </a:rPr>
              <a:t>XGBoost</a:t>
            </a:r>
            <a:endParaRPr lang="en-US" sz="1900" dirty="0"/>
          </a:p>
        </p:txBody>
      </p:sp>
      <p:sp>
        <p:nvSpPr>
          <p:cNvPr id="16" name="Shape 14"/>
          <p:cNvSpPr/>
          <p:nvPr/>
        </p:nvSpPr>
        <p:spPr>
          <a:xfrm>
            <a:off x="2743200" y="3246120"/>
            <a:ext cx="6876288" cy="228600"/>
          </a:xfrm>
          <a:prstGeom prst="rect">
            <a:avLst/>
          </a:prstGeom>
          <a:solidFill>
            <a:srgbClr val="E5EDF0"/>
          </a:solidFill>
          <a:ln w="12700">
            <a:solidFill>
              <a:srgbClr val="E5EDF0">
                <a:alpha val="0"/>
              </a:srgbClr>
            </a:solidFill>
            <a:prstDash val="solid"/>
          </a:ln>
        </p:spPr>
      </p:sp>
      <p:sp>
        <p:nvSpPr>
          <p:cNvPr id="17" name="Shape 15"/>
          <p:cNvSpPr/>
          <p:nvPr/>
        </p:nvSpPr>
        <p:spPr>
          <a:xfrm>
            <a:off x="2743200" y="3246120"/>
            <a:ext cx="6642494" cy="228600"/>
          </a:xfrm>
          <a:prstGeom prst="rect">
            <a:avLst/>
          </a:prstGeom>
          <a:solidFill>
            <a:srgbClr val="087F8C"/>
          </a:solidFill>
          <a:ln w="12700">
            <a:solidFill>
              <a:srgbClr val="087F8C">
                <a:alpha val="0"/>
              </a:srgbClr>
            </a:solidFill>
            <a:prstDash val="solid"/>
          </a:ln>
        </p:spPr>
      </p:sp>
      <p:sp>
        <p:nvSpPr>
          <p:cNvPr id="18" name="Text 16"/>
          <p:cNvSpPr/>
          <p:nvPr/>
        </p:nvSpPr>
        <p:spPr>
          <a:xfrm>
            <a:off x="9930384" y="3191256"/>
            <a:ext cx="1508760" cy="329184"/>
          </a:xfrm>
          <a:prstGeom prst="rect">
            <a:avLst/>
          </a:prstGeom>
          <a:noFill/>
          <a:ln/>
        </p:spPr>
        <p:txBody>
          <a:bodyPr wrap="square" lIns="0" tIns="0" rIns="0" bIns="0" rtlCol="0" anchor="ctr">
            <a:normAutofit/>
          </a:bodyPr>
          <a:lstStyle/>
          <a:p>
            <a:pPr indent="0" marL="0">
              <a:buNone/>
            </a:pPr>
            <a:r>
              <a:rPr lang="en-US" sz="1700" b="1" dirty="0">
                <a:solidFill>
                  <a:srgbClr val="162536"/>
                </a:solidFill>
                <a:latin typeface="Avenir Next" pitchFamily="34" charset="0"/>
                <a:ea typeface="Avenir Next" pitchFamily="34" charset="-122"/>
                <a:cs typeface="Avenir Next" pitchFamily="34" charset="-120"/>
              </a:rPr>
              <a:t>P  96.6%</a:t>
            </a:r>
            <a:endParaRPr lang="en-US" sz="1700" dirty="0"/>
          </a:p>
        </p:txBody>
      </p:sp>
      <p:sp>
        <p:nvSpPr>
          <p:cNvPr id="19" name="Shape 17"/>
          <p:cNvSpPr/>
          <p:nvPr/>
        </p:nvSpPr>
        <p:spPr>
          <a:xfrm>
            <a:off x="2743200" y="3602736"/>
            <a:ext cx="6876288" cy="228600"/>
          </a:xfrm>
          <a:prstGeom prst="rect">
            <a:avLst/>
          </a:prstGeom>
          <a:solidFill>
            <a:srgbClr val="E5EDF0"/>
          </a:solidFill>
          <a:ln w="12700">
            <a:solidFill>
              <a:srgbClr val="E5EDF0">
                <a:alpha val="0"/>
              </a:srgbClr>
            </a:solidFill>
            <a:prstDash val="solid"/>
          </a:ln>
        </p:spPr>
      </p:sp>
      <p:sp>
        <p:nvSpPr>
          <p:cNvPr id="20" name="Shape 18"/>
          <p:cNvSpPr/>
          <p:nvPr/>
        </p:nvSpPr>
        <p:spPr>
          <a:xfrm>
            <a:off x="2743200" y="3602736"/>
            <a:ext cx="6738762" cy="228600"/>
          </a:xfrm>
          <a:prstGeom prst="rect">
            <a:avLst/>
          </a:prstGeom>
          <a:solidFill>
            <a:srgbClr val="D79A57"/>
          </a:solidFill>
          <a:ln w="12700">
            <a:solidFill>
              <a:srgbClr val="D79A57">
                <a:alpha val="0"/>
              </a:srgbClr>
            </a:solidFill>
            <a:prstDash val="solid"/>
          </a:ln>
        </p:spPr>
      </p:sp>
      <p:sp>
        <p:nvSpPr>
          <p:cNvPr id="21" name="Text 19"/>
          <p:cNvSpPr/>
          <p:nvPr/>
        </p:nvSpPr>
        <p:spPr>
          <a:xfrm>
            <a:off x="9930384" y="3547872"/>
            <a:ext cx="1508760" cy="329184"/>
          </a:xfrm>
          <a:prstGeom prst="rect">
            <a:avLst/>
          </a:prstGeom>
          <a:noFill/>
          <a:ln/>
        </p:spPr>
        <p:txBody>
          <a:bodyPr wrap="square" lIns="0" tIns="0" rIns="0" bIns="0" rtlCol="0" anchor="ctr">
            <a:normAutofit/>
          </a:bodyPr>
          <a:lstStyle/>
          <a:p>
            <a:pPr indent="0" marL="0">
              <a:buNone/>
            </a:pPr>
            <a:r>
              <a:rPr lang="en-US" sz="1700" b="1" dirty="0">
                <a:solidFill>
                  <a:srgbClr val="162536"/>
                </a:solidFill>
                <a:latin typeface="Avenir Next" pitchFamily="34" charset="0"/>
                <a:ea typeface="Avenir Next" pitchFamily="34" charset="-122"/>
                <a:cs typeface="Avenir Next" pitchFamily="34" charset="-120"/>
              </a:rPr>
              <a:t>R  98.0%</a:t>
            </a:r>
            <a:endParaRPr lang="en-US" sz="1700" dirty="0"/>
          </a:p>
        </p:txBody>
      </p:sp>
      <p:sp>
        <p:nvSpPr>
          <p:cNvPr id="22" name="Text 20"/>
          <p:cNvSpPr/>
          <p:nvPr/>
        </p:nvSpPr>
        <p:spPr>
          <a:xfrm>
            <a:off x="704088" y="4709160"/>
            <a:ext cx="1920240" cy="530352"/>
          </a:xfrm>
          <a:prstGeom prst="rect">
            <a:avLst/>
          </a:prstGeom>
          <a:noFill/>
          <a:ln/>
        </p:spPr>
        <p:txBody>
          <a:bodyPr wrap="square" lIns="0" tIns="0" rIns="0" bIns="0" rtlCol="0" anchor="ctr">
            <a:normAutofit/>
          </a:bodyPr>
          <a:lstStyle/>
          <a:p>
            <a:pPr indent="0" marL="0">
              <a:buNone/>
            </a:pPr>
            <a:r>
              <a:rPr lang="en-US" sz="1900" dirty="0">
                <a:solidFill>
                  <a:srgbClr val="0B1B2C"/>
                </a:solidFill>
                <a:latin typeface="Avenir Next" pitchFamily="34" charset="0"/>
                <a:ea typeface="Avenir Next" pitchFamily="34" charset="-122"/>
                <a:cs typeface="Avenir Next" pitchFamily="34" charset="-120"/>
              </a:rPr>
              <a:t>EBM</a:t>
            </a:r>
            <a:endParaRPr lang="en-US" sz="1900" dirty="0"/>
          </a:p>
        </p:txBody>
      </p:sp>
      <p:sp>
        <p:nvSpPr>
          <p:cNvPr id="23" name="Shape 21"/>
          <p:cNvSpPr/>
          <p:nvPr/>
        </p:nvSpPr>
        <p:spPr>
          <a:xfrm>
            <a:off x="2743200" y="4553712"/>
            <a:ext cx="6876288" cy="228600"/>
          </a:xfrm>
          <a:prstGeom prst="rect">
            <a:avLst/>
          </a:prstGeom>
          <a:solidFill>
            <a:srgbClr val="E5EDF0"/>
          </a:solidFill>
          <a:ln w="12700">
            <a:solidFill>
              <a:srgbClr val="E5EDF0">
                <a:alpha val="0"/>
              </a:srgbClr>
            </a:solidFill>
            <a:prstDash val="solid"/>
          </a:ln>
        </p:spPr>
      </p:sp>
      <p:sp>
        <p:nvSpPr>
          <p:cNvPr id="24" name="Shape 22"/>
          <p:cNvSpPr/>
          <p:nvPr/>
        </p:nvSpPr>
        <p:spPr>
          <a:xfrm>
            <a:off x="2743200" y="4553712"/>
            <a:ext cx="5604175" cy="228600"/>
          </a:xfrm>
          <a:prstGeom prst="rect">
            <a:avLst/>
          </a:prstGeom>
          <a:solidFill>
            <a:srgbClr val="087F8C"/>
          </a:solidFill>
          <a:ln w="12700">
            <a:solidFill>
              <a:srgbClr val="087F8C">
                <a:alpha val="0"/>
              </a:srgbClr>
            </a:solidFill>
            <a:prstDash val="solid"/>
          </a:ln>
        </p:spPr>
      </p:sp>
      <p:sp>
        <p:nvSpPr>
          <p:cNvPr id="25" name="Text 23"/>
          <p:cNvSpPr/>
          <p:nvPr/>
        </p:nvSpPr>
        <p:spPr>
          <a:xfrm>
            <a:off x="9930384" y="4498848"/>
            <a:ext cx="1508760" cy="329184"/>
          </a:xfrm>
          <a:prstGeom prst="rect">
            <a:avLst/>
          </a:prstGeom>
          <a:noFill/>
          <a:ln/>
        </p:spPr>
        <p:txBody>
          <a:bodyPr wrap="square" lIns="0" tIns="0" rIns="0" bIns="0" rtlCol="0" anchor="ctr">
            <a:normAutofit/>
          </a:bodyPr>
          <a:lstStyle/>
          <a:p>
            <a:pPr indent="0" marL="0">
              <a:buNone/>
            </a:pPr>
            <a:r>
              <a:rPr lang="en-US" sz="1700" b="1" dirty="0">
                <a:solidFill>
                  <a:srgbClr val="162536"/>
                </a:solidFill>
                <a:latin typeface="Avenir Next" pitchFamily="34" charset="0"/>
                <a:ea typeface="Avenir Next" pitchFamily="34" charset="-122"/>
                <a:cs typeface="Avenir Next" pitchFamily="34" charset="-120"/>
              </a:rPr>
              <a:t>P  81.5%</a:t>
            </a:r>
            <a:endParaRPr lang="en-US" sz="1700" dirty="0"/>
          </a:p>
        </p:txBody>
      </p:sp>
      <p:sp>
        <p:nvSpPr>
          <p:cNvPr id="26" name="Shape 24"/>
          <p:cNvSpPr/>
          <p:nvPr/>
        </p:nvSpPr>
        <p:spPr>
          <a:xfrm>
            <a:off x="2743200" y="4910328"/>
            <a:ext cx="6876288" cy="228600"/>
          </a:xfrm>
          <a:prstGeom prst="rect">
            <a:avLst/>
          </a:prstGeom>
          <a:solidFill>
            <a:srgbClr val="E5EDF0"/>
          </a:solidFill>
          <a:ln w="12700">
            <a:solidFill>
              <a:srgbClr val="E5EDF0">
                <a:alpha val="0"/>
              </a:srgbClr>
            </a:solidFill>
            <a:prstDash val="solid"/>
          </a:ln>
        </p:spPr>
      </p:sp>
      <p:sp>
        <p:nvSpPr>
          <p:cNvPr id="27" name="Shape 25"/>
          <p:cNvSpPr/>
          <p:nvPr/>
        </p:nvSpPr>
        <p:spPr>
          <a:xfrm>
            <a:off x="2743200" y="4910328"/>
            <a:ext cx="4531474" cy="228600"/>
          </a:xfrm>
          <a:prstGeom prst="rect">
            <a:avLst/>
          </a:prstGeom>
          <a:solidFill>
            <a:srgbClr val="D79A57"/>
          </a:solidFill>
          <a:ln w="12700">
            <a:solidFill>
              <a:srgbClr val="D79A57">
                <a:alpha val="0"/>
              </a:srgbClr>
            </a:solidFill>
            <a:prstDash val="solid"/>
          </a:ln>
        </p:spPr>
      </p:sp>
      <p:sp>
        <p:nvSpPr>
          <p:cNvPr id="28" name="Text 26"/>
          <p:cNvSpPr/>
          <p:nvPr/>
        </p:nvSpPr>
        <p:spPr>
          <a:xfrm>
            <a:off x="9930384" y="4855464"/>
            <a:ext cx="1508760" cy="329184"/>
          </a:xfrm>
          <a:prstGeom prst="rect">
            <a:avLst/>
          </a:prstGeom>
          <a:noFill/>
          <a:ln/>
        </p:spPr>
        <p:txBody>
          <a:bodyPr wrap="square" lIns="0" tIns="0" rIns="0" bIns="0" rtlCol="0" anchor="ctr">
            <a:normAutofit/>
          </a:bodyPr>
          <a:lstStyle/>
          <a:p>
            <a:pPr indent="0" marL="0">
              <a:buNone/>
            </a:pPr>
            <a:r>
              <a:rPr lang="en-US" sz="1700" b="1" dirty="0">
                <a:solidFill>
                  <a:srgbClr val="162536"/>
                </a:solidFill>
                <a:latin typeface="Avenir Next" pitchFamily="34" charset="0"/>
                <a:ea typeface="Avenir Next" pitchFamily="34" charset="-122"/>
                <a:cs typeface="Avenir Next" pitchFamily="34" charset="-120"/>
              </a:rPr>
              <a:t>R  65.9%</a:t>
            </a:r>
            <a:endParaRPr lang="en-US" sz="1700" dirty="0"/>
          </a:p>
        </p:txBody>
      </p:sp>
      <p:sp>
        <p:nvSpPr>
          <p:cNvPr id="29" name="Text 27"/>
          <p:cNvSpPr/>
          <p:nvPr/>
        </p:nvSpPr>
        <p:spPr>
          <a:xfrm>
            <a:off x="685800" y="5934456"/>
            <a:ext cx="10835640" cy="411480"/>
          </a:xfrm>
          <a:prstGeom prst="rect">
            <a:avLst/>
          </a:prstGeom>
          <a:noFill/>
          <a:ln/>
        </p:spPr>
        <p:txBody>
          <a:bodyPr wrap="square" lIns="0" tIns="0" rIns="0" bIns="0" rtlCol="0" anchor="ctr">
            <a:normAutofit/>
          </a:bodyPr>
          <a:lstStyle/>
          <a:p>
            <a:pPr indent="0" marL="0">
              <a:buNone/>
            </a:pPr>
            <a:r>
              <a:rPr lang="en-US" sz="1800" dirty="0">
                <a:solidFill>
                  <a:srgbClr val="526577"/>
                </a:solidFill>
                <a:latin typeface="Avenir Next" pitchFamily="34" charset="0"/>
                <a:ea typeface="Avenir Next" pitchFamily="34" charset="-122"/>
                <a:cs typeface="Avenir Next" pitchFamily="34" charset="-120"/>
              </a:rPr>
              <a:t>Precision divides by alerts. Recall divides by 1,683 positive test labels.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Standalone track alerts have different economics</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927080" cy="3063240"/>
        </p:xfrm>
        <a:graphic>
          <a:graphicData uri="http://schemas.openxmlformats.org/drawingml/2006/table">
            <a:tbl>
              <a:tblPr/>
              <a:tblGrid>
                <a:gridCol w="2514600"/>
                <a:gridCol w="1417320"/>
                <a:gridCol w="1417320"/>
                <a:gridCol w="1965960"/>
                <a:gridCol w="1783080"/>
                <a:gridCol w="1828800"/>
              </a:tblGrid>
              <a:tr h="765810">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Track</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Alerts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Caught</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False alerts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Precision</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Recall</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r>
              <a:tr h="765810">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Fixed rules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69,708</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648</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69,060</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0.93%</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38.5%</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r h="765810">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Isolation Forest</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1,323</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45</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1,278</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3.40%</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2.67%</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r>
              <a:tr h="765810">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Network fan-in/out</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2,075</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792</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1,283</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38.17%</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47.06%</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bl>
          </a:graphicData>
        </a:graphic>
      </p:graphicFrame>
      <p:sp>
        <p:nvSpPr>
          <p:cNvPr id="7" name="Text 4"/>
          <p:cNvSpPr/>
          <p:nvPr/>
        </p:nvSpPr>
        <p:spPr>
          <a:xfrm>
            <a:off x="667512" y="4965192"/>
            <a:ext cx="2011680" cy="411480"/>
          </a:xfrm>
          <a:prstGeom prst="rect">
            <a:avLst/>
          </a:prstGeom>
          <a:noFill/>
          <a:ln/>
        </p:spPr>
        <p:txBody>
          <a:bodyPr wrap="square" lIns="0" tIns="0" rIns="0" bIns="0" rtlCol="0" anchor="ctr">
            <a:normAutofit/>
          </a:bodyPr>
          <a:lstStyle/>
          <a:p>
            <a:pPr indent="0" marL="0">
              <a:buNone/>
            </a:pPr>
            <a:r>
              <a:rPr lang="en-US" sz="2100" b="1" dirty="0">
                <a:solidFill>
                  <a:srgbClr val="087F8C"/>
                </a:solidFill>
                <a:latin typeface="Avenir Next" pitchFamily="34" charset="0"/>
                <a:ea typeface="Avenir Next" pitchFamily="34" charset="-122"/>
                <a:cs typeface="Avenir Next" pitchFamily="34" charset="-120"/>
              </a:rPr>
              <a:t>Track union</a:t>
            </a:r>
            <a:endParaRPr lang="en-US" sz="2100" dirty="0"/>
          </a:p>
        </p:txBody>
      </p:sp>
      <p:sp>
        <p:nvSpPr>
          <p:cNvPr id="8" name="Text 5"/>
          <p:cNvSpPr/>
          <p:nvPr/>
        </p:nvSpPr>
        <p:spPr>
          <a:xfrm>
            <a:off x="2496312" y="4928616"/>
            <a:ext cx="8961120" cy="566928"/>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72,328 unique test alerts catch 1,196 positives, with 71,132 false alerts.</a:t>
            </a:r>
            <a:endParaRPr lang="en-US" sz="1900" dirty="0"/>
          </a:p>
        </p:txBody>
      </p:sp>
      <p:sp>
        <p:nvSpPr>
          <p:cNvPr id="9" name="Text 6"/>
          <p:cNvSpPr/>
          <p:nvPr/>
        </p:nvSpPr>
        <p:spPr>
          <a:xfrm>
            <a:off x="667512" y="5733288"/>
            <a:ext cx="10698480" cy="438912"/>
          </a:xfrm>
          <a:prstGeom prst="rect">
            <a:avLst/>
          </a:prstGeom>
          <a:noFill/>
          <a:ln/>
        </p:spPr>
        <p:txBody>
          <a:bodyPr wrap="square" lIns="0" tIns="0" rIns="0" bIns="0" rtlCol="0" anchor="ctr">
            <a:normAutofit/>
          </a:bodyPr>
          <a:lstStyle/>
          <a:p>
            <a:pPr indent="0" marL="0">
              <a:buNone/>
            </a:pPr>
            <a:r>
              <a:rPr lang="en-US" sz="1800" dirty="0">
                <a:solidFill>
                  <a:srgbClr val="526577"/>
                </a:solidFill>
                <a:latin typeface="Avenir Next" pitchFamily="34" charset="0"/>
                <a:ea typeface="Avenir Next" pitchFamily="34" charset="-122"/>
                <a:cs typeface="Avenir Next" pitchFamily="34" charset="-120"/>
              </a:rPr>
              <a:t>The union is a diagnostic benchmark, not the selected queue.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The union adds little coverage at very high cost</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SAML-D EXPERIMENT</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17</a:t>
            </a:r>
            <a:endParaRPr lang="en-US" sz="1000" dirty="0"/>
          </a:p>
        </p:txBody>
      </p:sp>
      <p:sp>
        <p:nvSpPr>
          <p:cNvPr id="6" name="Text 4"/>
          <p:cNvSpPr/>
          <p:nvPr/>
        </p:nvSpPr>
        <p:spPr>
          <a:xfrm>
            <a:off x="658368" y="1399032"/>
            <a:ext cx="4754880" cy="384048"/>
          </a:xfrm>
          <a:prstGeom prst="rect">
            <a:avLst/>
          </a:prstGeom>
          <a:noFill/>
          <a:ln/>
        </p:spPr>
        <p:txBody>
          <a:bodyPr wrap="square" lIns="0" tIns="0" rIns="0" bIns="0" rtlCol="0" anchor="ctr">
            <a:normAutofit/>
          </a:bodyPr>
          <a:lstStyle/>
          <a:p>
            <a:pPr indent="0" marL="0">
              <a:buNone/>
            </a:pPr>
            <a:r>
              <a:rPr lang="en-US" sz="2100" b="1" dirty="0">
                <a:solidFill>
                  <a:srgbClr val="0B1B2C"/>
                </a:solidFill>
                <a:latin typeface="Avenir Next" pitchFamily="34" charset="0"/>
                <a:ea typeface="Avenir Next" pitchFamily="34" charset="-122"/>
                <a:cs typeface="Avenir Next" pitchFamily="34" charset="-120"/>
              </a:rPr>
              <a:t>Selected XGBoost</a:t>
            </a:r>
            <a:endParaRPr lang="en-US" sz="2100" dirty="0"/>
          </a:p>
        </p:txBody>
      </p:sp>
      <p:sp>
        <p:nvSpPr>
          <p:cNvPr id="7" name="Text 5"/>
          <p:cNvSpPr/>
          <p:nvPr/>
        </p:nvSpPr>
        <p:spPr>
          <a:xfrm>
            <a:off x="640080" y="1847088"/>
            <a:ext cx="4206240" cy="749808"/>
          </a:xfrm>
          <a:prstGeom prst="rect">
            <a:avLst/>
          </a:prstGeom>
          <a:noFill/>
          <a:ln/>
        </p:spPr>
        <p:txBody>
          <a:bodyPr wrap="square" lIns="0" tIns="0" rIns="0" bIns="0" rtlCol="0" anchor="ctr">
            <a:normAutofit/>
          </a:bodyPr>
          <a:lstStyle/>
          <a:p>
            <a:pPr indent="0" marL="0">
              <a:buNone/>
            </a:pPr>
            <a:r>
              <a:rPr lang="en-US" sz="3800" b="1" dirty="0">
                <a:solidFill>
                  <a:srgbClr val="087F8C"/>
                </a:solidFill>
                <a:latin typeface="Avenir Next" pitchFamily="34" charset="0"/>
                <a:ea typeface="Avenir Next" pitchFamily="34" charset="-122"/>
                <a:cs typeface="Avenir Next" pitchFamily="34" charset="-120"/>
              </a:rPr>
              <a:t>1,708</a:t>
            </a:r>
            <a:endParaRPr lang="en-US" sz="3800" dirty="0"/>
          </a:p>
        </p:txBody>
      </p:sp>
      <p:sp>
        <p:nvSpPr>
          <p:cNvPr id="8" name="Text 6"/>
          <p:cNvSpPr/>
          <p:nvPr/>
        </p:nvSpPr>
        <p:spPr>
          <a:xfrm>
            <a:off x="658368" y="2660904"/>
            <a:ext cx="4983480" cy="493776"/>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alerts  |  1,650 caught  |  58 false</a:t>
            </a:r>
            <a:endParaRPr lang="en-US" sz="1800" dirty="0"/>
          </a:p>
        </p:txBody>
      </p:sp>
      <p:sp>
        <p:nvSpPr>
          <p:cNvPr id="9" name="Text 7"/>
          <p:cNvSpPr/>
          <p:nvPr/>
        </p:nvSpPr>
        <p:spPr>
          <a:xfrm>
            <a:off x="6236208" y="1399032"/>
            <a:ext cx="5120640" cy="384048"/>
          </a:xfrm>
          <a:prstGeom prst="rect">
            <a:avLst/>
          </a:prstGeom>
          <a:noFill/>
          <a:ln/>
        </p:spPr>
        <p:txBody>
          <a:bodyPr wrap="square" lIns="0" tIns="0" rIns="0" bIns="0" rtlCol="0" anchor="ctr">
            <a:normAutofit/>
          </a:bodyPr>
          <a:lstStyle/>
          <a:p>
            <a:pPr indent="0" marL="0">
              <a:buNone/>
            </a:pPr>
            <a:r>
              <a:rPr lang="en-US" sz="2100" b="1" dirty="0">
                <a:solidFill>
                  <a:srgbClr val="0B1B2C"/>
                </a:solidFill>
                <a:latin typeface="Avenir Next" pitchFamily="34" charset="0"/>
                <a:ea typeface="Avenir Next" pitchFamily="34" charset="-122"/>
                <a:cs typeface="Avenir Next" pitchFamily="34" charset="-120"/>
              </a:rPr>
              <a:t>XGBoost plus all track alerts</a:t>
            </a:r>
            <a:endParaRPr lang="en-US" sz="2100" dirty="0"/>
          </a:p>
        </p:txBody>
      </p:sp>
      <p:sp>
        <p:nvSpPr>
          <p:cNvPr id="10" name="Text 8"/>
          <p:cNvSpPr/>
          <p:nvPr/>
        </p:nvSpPr>
        <p:spPr>
          <a:xfrm>
            <a:off x="6217920" y="1847088"/>
            <a:ext cx="4800600" cy="749808"/>
          </a:xfrm>
          <a:prstGeom prst="rect">
            <a:avLst/>
          </a:prstGeom>
          <a:noFill/>
          <a:ln/>
        </p:spPr>
        <p:txBody>
          <a:bodyPr wrap="square" lIns="0" tIns="0" rIns="0" bIns="0" rtlCol="0" anchor="ctr">
            <a:normAutofit/>
          </a:bodyPr>
          <a:lstStyle/>
          <a:p>
            <a:pPr indent="0" marL="0">
              <a:buNone/>
            </a:pPr>
            <a:r>
              <a:rPr lang="en-US" sz="3800" b="1" dirty="0">
                <a:solidFill>
                  <a:srgbClr val="A96132"/>
                </a:solidFill>
                <a:latin typeface="Avenir Next" pitchFamily="34" charset="0"/>
                <a:ea typeface="Avenir Next" pitchFamily="34" charset="-122"/>
                <a:cs typeface="Avenir Next" pitchFamily="34" charset="-120"/>
              </a:rPr>
              <a:t>72,795</a:t>
            </a:r>
            <a:endParaRPr lang="en-US" sz="3800" dirty="0"/>
          </a:p>
        </p:txBody>
      </p:sp>
      <p:sp>
        <p:nvSpPr>
          <p:cNvPr id="11" name="Text 9"/>
          <p:cNvSpPr/>
          <p:nvPr/>
        </p:nvSpPr>
        <p:spPr>
          <a:xfrm>
            <a:off x="6236208" y="2660904"/>
            <a:ext cx="5175504" cy="493776"/>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alerts  |  1,661 caught  |  71,134 false</a:t>
            </a:r>
            <a:endParaRPr lang="en-US" sz="1800" dirty="0"/>
          </a:p>
        </p:txBody>
      </p:sp>
      <p:sp>
        <p:nvSpPr>
          <p:cNvPr id="12" name="Shape 10"/>
          <p:cNvSpPr/>
          <p:nvPr/>
        </p:nvSpPr>
        <p:spPr>
          <a:xfrm>
            <a:off x="685800" y="3514405"/>
            <a:ext cx="10762488" cy="12070"/>
          </a:xfrm>
          <a:prstGeom prst="rect">
            <a:avLst/>
          </a:prstGeom>
          <a:solidFill>
            <a:srgbClr val="C8D4DB"/>
          </a:solidFill>
          <a:ln w="12700">
            <a:solidFill>
              <a:srgbClr val="C8D4DB">
                <a:alpha val="0"/>
              </a:srgbClr>
            </a:solidFill>
            <a:prstDash val="solid"/>
          </a:ln>
        </p:spPr>
      </p:sp>
      <p:sp>
        <p:nvSpPr>
          <p:cNvPr id="13" name="Text 11"/>
          <p:cNvSpPr/>
          <p:nvPr/>
        </p:nvSpPr>
        <p:spPr>
          <a:xfrm>
            <a:off x="694944" y="3794760"/>
            <a:ext cx="1965960" cy="777240"/>
          </a:xfrm>
          <a:prstGeom prst="rect">
            <a:avLst/>
          </a:prstGeom>
          <a:noFill/>
          <a:ln/>
        </p:spPr>
        <p:txBody>
          <a:bodyPr wrap="square" lIns="0" tIns="0" rIns="0" bIns="0" rtlCol="0" anchor="ctr">
            <a:normAutofit/>
          </a:bodyPr>
          <a:lstStyle/>
          <a:p>
            <a:pPr indent="0" marL="0">
              <a:buNone/>
            </a:pPr>
            <a:r>
              <a:rPr lang="en-US" sz="3700" b="1" dirty="0">
                <a:solidFill>
                  <a:srgbClr val="23796B"/>
                </a:solidFill>
                <a:latin typeface="Avenir Next" pitchFamily="34" charset="0"/>
                <a:ea typeface="Avenir Next" pitchFamily="34" charset="-122"/>
                <a:cs typeface="Avenir Next" pitchFamily="34" charset="-120"/>
              </a:rPr>
              <a:t>+11</a:t>
            </a:r>
            <a:endParaRPr lang="en-US" sz="3700" dirty="0"/>
          </a:p>
        </p:txBody>
      </p:sp>
      <p:sp>
        <p:nvSpPr>
          <p:cNvPr id="14" name="Text 12"/>
          <p:cNvSpPr/>
          <p:nvPr/>
        </p:nvSpPr>
        <p:spPr>
          <a:xfrm>
            <a:off x="694944" y="4553712"/>
            <a:ext cx="4251960" cy="438912"/>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additional positive labels</a:t>
            </a:r>
            <a:endParaRPr lang="en-US" sz="1900" dirty="0"/>
          </a:p>
        </p:txBody>
      </p:sp>
      <p:sp>
        <p:nvSpPr>
          <p:cNvPr id="15" name="Text 13"/>
          <p:cNvSpPr/>
          <p:nvPr/>
        </p:nvSpPr>
        <p:spPr>
          <a:xfrm>
            <a:off x="6236208" y="3794760"/>
            <a:ext cx="3108960" cy="777240"/>
          </a:xfrm>
          <a:prstGeom prst="rect">
            <a:avLst/>
          </a:prstGeom>
          <a:noFill/>
          <a:ln/>
        </p:spPr>
        <p:txBody>
          <a:bodyPr wrap="square" lIns="0" tIns="0" rIns="0" bIns="0" rtlCol="0" anchor="ctr">
            <a:normAutofit/>
          </a:bodyPr>
          <a:lstStyle/>
          <a:p>
            <a:pPr indent="0" marL="0">
              <a:buNone/>
            </a:pPr>
            <a:r>
              <a:rPr lang="en-US" sz="3700" b="1" dirty="0">
                <a:solidFill>
                  <a:srgbClr val="C44C48"/>
                </a:solidFill>
                <a:latin typeface="Avenir Next" pitchFamily="34" charset="0"/>
                <a:ea typeface="Avenir Next" pitchFamily="34" charset="-122"/>
                <a:cs typeface="Avenir Next" pitchFamily="34" charset="-120"/>
              </a:rPr>
              <a:t>+71,076</a:t>
            </a:r>
            <a:endParaRPr lang="en-US" sz="3700" dirty="0"/>
          </a:p>
        </p:txBody>
      </p:sp>
      <p:sp>
        <p:nvSpPr>
          <p:cNvPr id="16" name="Text 14"/>
          <p:cNvSpPr/>
          <p:nvPr/>
        </p:nvSpPr>
        <p:spPr>
          <a:xfrm>
            <a:off x="6236208" y="4553712"/>
            <a:ext cx="4389120" cy="438912"/>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additional false alerts</a:t>
            </a:r>
            <a:endParaRPr lang="en-US" sz="1900" dirty="0"/>
          </a:p>
        </p:txBody>
      </p:sp>
      <p:sp>
        <p:nvSpPr>
          <p:cNvPr id="17" name="Text 15"/>
          <p:cNvSpPr/>
          <p:nvPr/>
        </p:nvSpPr>
        <p:spPr>
          <a:xfrm>
            <a:off x="694944" y="5532120"/>
            <a:ext cx="10789920" cy="557784"/>
          </a:xfrm>
          <a:prstGeom prst="rect">
            <a:avLst/>
          </a:prstGeom>
          <a:noFill/>
          <a:ln/>
        </p:spPr>
        <p:txBody>
          <a:bodyPr wrap="square" lIns="0" tIns="0" rIns="0" bIns="0" rtlCol="0" anchor="ctr">
            <a:normAutofit/>
          </a:bodyPr>
          <a:lstStyle/>
          <a:p>
            <a:pPr indent="0" marL="0">
              <a:buNone/>
            </a:pPr>
            <a:r>
              <a:rPr lang="en-US" sz="1800" dirty="0">
                <a:solidFill>
                  <a:srgbClr val="526577"/>
                </a:solidFill>
                <a:latin typeface="Avenir Next" pitchFamily="34" charset="0"/>
                <a:ea typeface="Avenir Next" pitchFamily="34" charset="-122"/>
                <a:cs typeface="Avenir Next" pitchFamily="34" charset="-120"/>
              </a:rPr>
              <a:t>Isolation Forest and network alerts recover zero of XGBoost’s 33 misses. Rules recover 11.</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Explanations support review, not a verdict</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INTERPRETATION AND CONTROLS</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527048"/>
          <a:ext cx="10927080" cy="3072384"/>
        </p:xfrm>
        <a:graphic>
          <a:graphicData uri="http://schemas.openxmlformats.org/drawingml/2006/table">
            <a:tbl>
              <a:tblPr/>
              <a:tblGrid>
                <a:gridCol w="2377440"/>
                <a:gridCol w="3977640"/>
                <a:gridCol w="4572000"/>
              </a:tblGrid>
              <a:tr h="768096">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Model</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Explanation in the notebook</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c>
                  <a:txBody>
                    <a:bodyPr/>
                    <a:lstStyle/>
                    <a:p>
                      <a:pPr indent="0" marL="0">
                        <a:buNone/>
                      </a:pPr>
                      <a:r>
                        <a:rPr lang="en-US" sz="1500" b="1" dirty="0">
                          <a:solidFill>
                            <a:srgbClr val="FFFFFF"/>
                          </a:solidFill>
                          <a:latin typeface="Avenir Next" pitchFamily="34" charset="0"/>
                          <a:ea typeface="Avenir Next" pitchFamily="34" charset="-122"/>
                          <a:cs typeface="Avenir Next" pitchFamily="34" charset="-120"/>
                        </a:rPr>
                        <a:t>What it answers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0B1B2C"/>
                    </a:solidFill>
                  </a:tcPr>
                </a:tc>
              </a:tr>
              <a:tr h="768096">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Logistic regression</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Coefficients and one-row contributions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Which scaled inputs move the log-odds</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r h="768096">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XGBoost</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Global and local Tree SHAP</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Which features move a tree score</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1F5F6"/>
                    </a:solidFill>
                  </a:tcPr>
                </a:tc>
              </a:tr>
              <a:tr h="768096">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EBM</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Native global effects and local explanation</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c>
                  <a:txBody>
                    <a:bodyPr/>
                    <a:lstStyle/>
                    <a:p>
                      <a:pPr indent="0" marL="0">
                        <a:buNone/>
                      </a:pPr>
                      <a:r>
                        <a:rPr lang="en-US" sz="1500" dirty="0">
                          <a:solidFill>
                            <a:srgbClr val="162536"/>
                          </a:solidFill>
                          <a:latin typeface="Avenir Next" pitchFamily="34" charset="0"/>
                          <a:ea typeface="Avenir Next" pitchFamily="34" charset="-122"/>
                          <a:cs typeface="Avenir Next" pitchFamily="34" charset="-120"/>
                        </a:rPr>
                        <a:t>How learned feature effects add to a score</a:t>
                      </a:r>
                      <a:endParaRPr lang="en-US" sz="1500" dirty="0">
                        <a:latin typeface="Avenir Next" charset="0"/>
                        <a:ea typeface="Avenir Next" charset="0"/>
                        <a:cs typeface="Avenir Next" charset="0"/>
                      </a:endParaRPr>
                    </a:p>
                  </a:txBody>
                  <a:tcPr marL="82296" marR="82296" marT="82296" marB="82296" anchor="mid">
                    <a:lnL w="7620" cap="flat" cmpd="sng" algn="ctr">
                      <a:solidFill>
                        <a:srgbClr val="C8D4DB"/>
                      </a:solidFill>
                      <a:prstDash val="solid"/>
                      <a:round/>
                      <a:headEnd type="none" w="med" len="med"/>
                      <a:tailEnd type="none" w="med" len="med"/>
                    </a:lnL>
                    <a:lnR w="7620" cap="flat" cmpd="sng" algn="ctr">
                      <a:solidFill>
                        <a:srgbClr val="C8D4DB"/>
                      </a:solidFill>
                      <a:prstDash val="solid"/>
                      <a:round/>
                      <a:headEnd type="none" w="med" len="med"/>
                      <a:tailEnd type="none" w="med" len="med"/>
                    </a:lnR>
                    <a:lnT w="7620" cap="flat" cmpd="sng" algn="ctr">
                      <a:solidFill>
                        <a:srgbClr val="C8D4DB"/>
                      </a:solidFill>
                      <a:prstDash val="solid"/>
                      <a:round/>
                      <a:headEnd type="none" w="med" len="med"/>
                      <a:tailEnd type="none" w="med" len="med"/>
                    </a:lnT>
                    <a:lnB w="7620" cap="flat" cmpd="sng" algn="ctr">
                      <a:solidFill>
                        <a:srgbClr val="C8D4DB"/>
                      </a:solidFill>
                      <a:prstDash val="solid"/>
                      <a:round/>
                      <a:headEnd type="none" w="med" len="med"/>
                      <a:tailEnd type="none" w="med" len="med"/>
                    </a:lnB>
                    <a:solidFill>
                      <a:srgbClr val="FFFFFF"/>
                    </a:solidFill>
                  </a:tcPr>
                </a:tc>
              </a:tr>
            </a:tbl>
          </a:graphicData>
        </a:graphic>
      </p:graphicFrame>
      <p:sp>
        <p:nvSpPr>
          <p:cNvPr id="7" name="Text 4"/>
          <p:cNvSpPr/>
          <p:nvPr/>
        </p:nvSpPr>
        <p:spPr>
          <a:xfrm>
            <a:off x="658368" y="4901184"/>
            <a:ext cx="2651760" cy="420624"/>
          </a:xfrm>
          <a:prstGeom prst="rect">
            <a:avLst/>
          </a:prstGeom>
          <a:noFill/>
          <a:ln/>
        </p:spPr>
        <p:txBody>
          <a:bodyPr wrap="square" lIns="0" tIns="0" rIns="0" bIns="0" rtlCol="0" anchor="ctr">
            <a:normAutofit/>
          </a:bodyPr>
          <a:lstStyle/>
          <a:p>
            <a:pPr indent="0" marL="0">
              <a:buNone/>
            </a:pPr>
            <a:r>
              <a:rPr lang="en-US" sz="2100" b="1" dirty="0">
                <a:solidFill>
                  <a:srgbClr val="A96132"/>
                </a:solidFill>
                <a:latin typeface="Avenir Next" pitchFamily="34" charset="0"/>
                <a:ea typeface="Avenir Next" pitchFamily="34" charset="-122"/>
                <a:cs typeface="Avenir Next" pitchFamily="34" charset="-120"/>
              </a:rPr>
              <a:t>Interpretive limit</a:t>
            </a:r>
            <a:endParaRPr lang="en-US" sz="2100" dirty="0"/>
          </a:p>
        </p:txBody>
      </p:sp>
      <p:sp>
        <p:nvSpPr>
          <p:cNvPr id="8" name="Text 5"/>
          <p:cNvSpPr/>
          <p:nvPr/>
        </p:nvSpPr>
        <p:spPr>
          <a:xfrm>
            <a:off x="658368" y="5394960"/>
            <a:ext cx="10716768" cy="640080"/>
          </a:xfrm>
          <a:prstGeom prst="rect">
            <a:avLst/>
          </a:prstGeom>
          <a:noFill/>
          <a:ln/>
        </p:spPr>
        <p:txBody>
          <a:bodyPr wrap="square" lIns="0" tIns="0" rIns="0" bIns="0" rtlCol="0" anchor="ctr">
            <a:normAutofit/>
          </a:bodyPr>
          <a:lstStyle/>
          <a:p>
            <a:pPr indent="0" marL="0">
              <a:buNone/>
            </a:pPr>
            <a:r>
              <a:rPr lang="en-US" sz="1900" dirty="0">
                <a:solidFill>
                  <a:srgbClr val="162536"/>
                </a:solidFill>
                <a:latin typeface="Avenir Next" pitchFamily="34" charset="0"/>
                <a:ea typeface="Avenir Next" pitchFamily="34" charset="-122"/>
                <a:cs typeface="Avenir Next" pitchFamily="34" charset="-120"/>
              </a:rPr>
              <a:t>These plots explain model calculations. They do not prove laundering, validate synthetic labels or replace analyst judgment.</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What a bank would validate before use</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INTERPRETATION AND CONTROLS</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19</a:t>
            </a:r>
            <a:endParaRPr lang="en-US" sz="1000" dirty="0"/>
          </a:p>
        </p:txBody>
      </p:sp>
      <p:sp>
        <p:nvSpPr>
          <p:cNvPr id="6" name="Shape 4"/>
          <p:cNvSpPr/>
          <p:nvPr/>
        </p:nvSpPr>
        <p:spPr>
          <a:xfrm>
            <a:off x="658368" y="2371496"/>
            <a:ext cx="10844784" cy="11887"/>
          </a:xfrm>
          <a:prstGeom prst="rect">
            <a:avLst/>
          </a:prstGeom>
          <a:solidFill>
            <a:srgbClr val="C8D4DB"/>
          </a:solidFill>
          <a:ln w="12700">
            <a:solidFill>
              <a:srgbClr val="C8D4DB">
                <a:alpha val="0"/>
              </a:srgbClr>
            </a:solidFill>
            <a:prstDash val="solid"/>
          </a:ln>
        </p:spPr>
      </p:sp>
      <p:sp>
        <p:nvSpPr>
          <p:cNvPr id="7" name="Text 5"/>
          <p:cNvSpPr/>
          <p:nvPr/>
        </p:nvSpPr>
        <p:spPr>
          <a:xfrm>
            <a:off x="685800" y="1426464"/>
            <a:ext cx="3063240" cy="502920"/>
          </a:xfrm>
          <a:prstGeom prst="rect">
            <a:avLst/>
          </a:prstGeom>
          <a:noFill/>
          <a:ln/>
        </p:spPr>
        <p:txBody>
          <a:bodyPr wrap="square" lIns="0" tIns="0" rIns="0" bIns="0" rtlCol="0" anchor="ctr">
            <a:normAutofit/>
          </a:bodyPr>
          <a:lstStyle/>
          <a:p>
            <a:pPr indent="0" marL="0">
              <a:buNone/>
            </a:pPr>
            <a:r>
              <a:rPr lang="en-US" sz="2000" b="1" dirty="0">
                <a:solidFill>
                  <a:srgbClr val="087F8C"/>
                </a:solidFill>
                <a:latin typeface="Avenir Next" pitchFamily="34" charset="0"/>
                <a:ea typeface="Avenir Next" pitchFamily="34" charset="-122"/>
                <a:cs typeface="Avenir Next" pitchFamily="34" charset="-120"/>
              </a:rPr>
              <a:t>Outcome quality</a:t>
            </a:r>
            <a:endParaRPr lang="en-US" sz="2000" dirty="0"/>
          </a:p>
        </p:txBody>
      </p:sp>
      <p:sp>
        <p:nvSpPr>
          <p:cNvPr id="8" name="Text 6"/>
          <p:cNvSpPr/>
          <p:nvPr/>
        </p:nvSpPr>
        <p:spPr>
          <a:xfrm>
            <a:off x="3840480" y="1426464"/>
            <a:ext cx="7562088" cy="667512"/>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Replace generator labels with documented case and investigation outcomes.</a:t>
            </a:r>
            <a:endParaRPr lang="en-US" sz="1800" dirty="0"/>
          </a:p>
        </p:txBody>
      </p:sp>
      <p:sp>
        <p:nvSpPr>
          <p:cNvPr id="9" name="Shape 7"/>
          <p:cNvSpPr/>
          <p:nvPr/>
        </p:nvSpPr>
        <p:spPr>
          <a:xfrm>
            <a:off x="658368" y="3487064"/>
            <a:ext cx="10844784" cy="11887"/>
          </a:xfrm>
          <a:prstGeom prst="rect">
            <a:avLst/>
          </a:prstGeom>
          <a:solidFill>
            <a:srgbClr val="C8D4DB"/>
          </a:solidFill>
          <a:ln w="12700">
            <a:solidFill>
              <a:srgbClr val="C8D4DB">
                <a:alpha val="0"/>
              </a:srgbClr>
            </a:solidFill>
            <a:prstDash val="solid"/>
          </a:ln>
        </p:spPr>
      </p:sp>
      <p:sp>
        <p:nvSpPr>
          <p:cNvPr id="10" name="Text 8"/>
          <p:cNvSpPr/>
          <p:nvPr/>
        </p:nvSpPr>
        <p:spPr>
          <a:xfrm>
            <a:off x="685800" y="2542032"/>
            <a:ext cx="3063240" cy="502920"/>
          </a:xfrm>
          <a:prstGeom prst="rect">
            <a:avLst/>
          </a:prstGeom>
          <a:noFill/>
          <a:ln/>
        </p:spPr>
        <p:txBody>
          <a:bodyPr wrap="square" lIns="0" tIns="0" rIns="0" bIns="0" rtlCol="0" anchor="ctr">
            <a:normAutofit/>
          </a:bodyPr>
          <a:lstStyle/>
          <a:p>
            <a:pPr indent="0" marL="0">
              <a:buNone/>
            </a:pPr>
            <a:r>
              <a:rPr lang="en-US" sz="2000" b="1" dirty="0">
                <a:solidFill>
                  <a:srgbClr val="0B1B2C"/>
                </a:solidFill>
                <a:latin typeface="Avenir Next" pitchFamily="34" charset="0"/>
                <a:ea typeface="Avenir Next" pitchFamily="34" charset="-122"/>
                <a:cs typeface="Avenir Next" pitchFamily="34" charset="-120"/>
              </a:rPr>
              <a:t>Coverage</a:t>
            </a:r>
            <a:endParaRPr lang="en-US" sz="2000" dirty="0"/>
          </a:p>
        </p:txBody>
      </p:sp>
      <p:sp>
        <p:nvSpPr>
          <p:cNvPr id="11" name="Text 9"/>
          <p:cNvSpPr/>
          <p:nvPr/>
        </p:nvSpPr>
        <p:spPr>
          <a:xfrm>
            <a:off x="3840480" y="2542032"/>
            <a:ext cx="7562088" cy="667512"/>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Challenge performance by typology, customer segment and payment channel.</a:t>
            </a:r>
            <a:endParaRPr lang="en-US" sz="1800" dirty="0"/>
          </a:p>
        </p:txBody>
      </p:sp>
      <p:sp>
        <p:nvSpPr>
          <p:cNvPr id="12" name="Shape 10"/>
          <p:cNvSpPr/>
          <p:nvPr/>
        </p:nvSpPr>
        <p:spPr>
          <a:xfrm>
            <a:off x="658368" y="4602632"/>
            <a:ext cx="10844784" cy="11887"/>
          </a:xfrm>
          <a:prstGeom prst="rect">
            <a:avLst/>
          </a:prstGeom>
          <a:solidFill>
            <a:srgbClr val="C8D4DB"/>
          </a:solidFill>
          <a:ln w="12700">
            <a:solidFill>
              <a:srgbClr val="C8D4DB">
                <a:alpha val="0"/>
              </a:srgbClr>
            </a:solidFill>
            <a:prstDash val="solid"/>
          </a:ln>
        </p:spPr>
      </p:sp>
      <p:sp>
        <p:nvSpPr>
          <p:cNvPr id="13" name="Text 11"/>
          <p:cNvSpPr/>
          <p:nvPr/>
        </p:nvSpPr>
        <p:spPr>
          <a:xfrm>
            <a:off x="685800" y="3657600"/>
            <a:ext cx="3063240" cy="502920"/>
          </a:xfrm>
          <a:prstGeom prst="rect">
            <a:avLst/>
          </a:prstGeom>
          <a:noFill/>
          <a:ln/>
        </p:spPr>
        <p:txBody>
          <a:bodyPr wrap="square" lIns="0" tIns="0" rIns="0" bIns="0" rtlCol="0" anchor="ctr">
            <a:normAutofit/>
          </a:bodyPr>
          <a:lstStyle/>
          <a:p>
            <a:pPr indent="0" marL="0">
              <a:buNone/>
            </a:pPr>
            <a:r>
              <a:rPr lang="en-US" sz="2000" b="1" dirty="0">
                <a:solidFill>
                  <a:srgbClr val="0B1B2C"/>
                </a:solidFill>
                <a:latin typeface="Avenir Next" pitchFamily="34" charset="0"/>
                <a:ea typeface="Avenir Next" pitchFamily="34" charset="-122"/>
                <a:cs typeface="Avenir Next" pitchFamily="34" charset="-120"/>
              </a:rPr>
              <a:t>Operations</a:t>
            </a:r>
            <a:endParaRPr lang="en-US" sz="2000" dirty="0"/>
          </a:p>
        </p:txBody>
      </p:sp>
      <p:sp>
        <p:nvSpPr>
          <p:cNvPr id="14" name="Text 12"/>
          <p:cNvSpPr/>
          <p:nvPr/>
        </p:nvSpPr>
        <p:spPr>
          <a:xfrm>
            <a:off x="3840480" y="3657600"/>
            <a:ext cx="7562088" cy="667512"/>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Set alert capacity, escalation policy and low-score sampling.</a:t>
            </a:r>
            <a:endParaRPr lang="en-US" sz="1800" dirty="0"/>
          </a:p>
        </p:txBody>
      </p:sp>
      <p:sp>
        <p:nvSpPr>
          <p:cNvPr id="15" name="Shape 13"/>
          <p:cNvSpPr/>
          <p:nvPr/>
        </p:nvSpPr>
        <p:spPr>
          <a:xfrm>
            <a:off x="658368" y="5718200"/>
            <a:ext cx="10844784" cy="11887"/>
          </a:xfrm>
          <a:prstGeom prst="rect">
            <a:avLst/>
          </a:prstGeom>
          <a:solidFill>
            <a:srgbClr val="C8D4DB"/>
          </a:solidFill>
          <a:ln w="12700">
            <a:solidFill>
              <a:srgbClr val="C8D4DB">
                <a:alpha val="0"/>
              </a:srgbClr>
            </a:solidFill>
            <a:prstDash val="solid"/>
          </a:ln>
        </p:spPr>
      </p:sp>
      <p:sp>
        <p:nvSpPr>
          <p:cNvPr id="16" name="Text 14"/>
          <p:cNvSpPr/>
          <p:nvPr/>
        </p:nvSpPr>
        <p:spPr>
          <a:xfrm>
            <a:off x="685800" y="4773168"/>
            <a:ext cx="3063240" cy="502920"/>
          </a:xfrm>
          <a:prstGeom prst="rect">
            <a:avLst/>
          </a:prstGeom>
          <a:noFill/>
          <a:ln/>
        </p:spPr>
        <p:txBody>
          <a:bodyPr wrap="square" lIns="0" tIns="0" rIns="0" bIns="0" rtlCol="0" anchor="ctr">
            <a:normAutofit/>
          </a:bodyPr>
          <a:lstStyle/>
          <a:p>
            <a:pPr indent="0" marL="0">
              <a:buNone/>
            </a:pPr>
            <a:r>
              <a:rPr lang="en-US" sz="2000" b="1" dirty="0">
                <a:solidFill>
                  <a:srgbClr val="0B1B2C"/>
                </a:solidFill>
                <a:latin typeface="Avenir Next" pitchFamily="34" charset="0"/>
                <a:ea typeface="Avenir Next" pitchFamily="34" charset="-122"/>
                <a:cs typeface="Avenir Next" pitchFamily="34" charset="-120"/>
              </a:rPr>
              <a:t>Governance</a:t>
            </a:r>
            <a:endParaRPr lang="en-US" sz="2000" dirty="0"/>
          </a:p>
        </p:txBody>
      </p:sp>
      <p:sp>
        <p:nvSpPr>
          <p:cNvPr id="17" name="Text 15"/>
          <p:cNvSpPr/>
          <p:nvPr/>
        </p:nvSpPr>
        <p:spPr>
          <a:xfrm>
            <a:off x="3840480" y="4773168"/>
            <a:ext cx="7562088" cy="667512"/>
          </a:xfrm>
          <a:prstGeom prst="rect">
            <a:avLst/>
          </a:prstGeom>
          <a:noFill/>
          <a:ln/>
        </p:spPr>
        <p:txBody>
          <a:bodyPr wrap="square" lIns="0" tIns="0" rIns="0" bIns="0" rtlCol="0" anchor="ctr">
            <a:normAutofit/>
          </a:bodyPr>
          <a:lstStyle/>
          <a:p>
            <a:pPr indent="0" marL="0">
              <a:buNone/>
            </a:pPr>
            <a:r>
              <a:rPr lang="en-US" sz="1800" dirty="0">
                <a:solidFill>
                  <a:srgbClr val="162536"/>
                </a:solidFill>
                <a:latin typeface="Avenir Next" pitchFamily="34" charset="0"/>
                <a:ea typeface="Avenir Next" pitchFamily="34" charset="-122"/>
                <a:cs typeface="Avenir Next" pitchFamily="34" charset="-120"/>
              </a:rPr>
              <a:t>Independent validation, drift monitoring, change control and audit trail.</a:t>
            </a:r>
            <a:endParaRPr lang="en-US" sz="1800" dirty="0"/>
          </a:p>
        </p:txBody>
      </p:sp>
      <p:sp>
        <p:nvSpPr>
          <p:cNvPr id="18" name="Text 16"/>
          <p:cNvSpPr/>
          <p:nvPr/>
        </p:nvSpPr>
        <p:spPr>
          <a:xfrm>
            <a:off x="685800" y="6053328"/>
            <a:ext cx="10789920" cy="356616"/>
          </a:xfrm>
          <a:prstGeom prst="rect">
            <a:avLst/>
          </a:prstGeom>
          <a:noFill/>
          <a:ln/>
        </p:spPr>
        <p:txBody>
          <a:bodyPr wrap="square" lIns="0" tIns="0" rIns="0" bIns="0" rtlCol="0" anchor="ctr">
            <a:normAutofit/>
          </a:bodyPr>
          <a:lstStyle/>
          <a:p>
            <a:pPr indent="0" marL="0">
              <a:buNone/>
            </a:pPr>
            <a:r>
              <a:rPr lang="en-US" sz="1600" dirty="0">
                <a:solidFill>
                  <a:srgbClr val="526577"/>
                </a:solidFill>
                <a:latin typeface="Avenir Next" pitchFamily="34" charset="0"/>
                <a:ea typeface="Avenir Next" pitchFamily="34" charset="-122"/>
                <a:cs typeface="Avenir Next" pitchFamily="34" charset="-120"/>
              </a:rPr>
              <a:t>This class MVP has no customer context, analyst dispositions, case lifecycle or live monitoring controls.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85216" y="347472"/>
            <a:ext cx="11064240" cy="640080"/>
          </a:xfrm>
          <a:prstGeom prst="rect">
            <a:avLst/>
          </a:prstGeom>
          <a:noFill/>
          <a:ln/>
        </p:spPr>
        <p:txBody>
          <a:bodyPr wrap="square" lIns="0" tIns="0" rIns="0" bIns="0" rtlCol="0" anchor="ctr">
            <a:normAutofit/>
          </a:bodyPr>
          <a:lstStyle/>
          <a:p>
            <a:pPr indent="0" marL="0">
              <a:buNone/>
            </a:pPr>
            <a:r>
              <a:rPr lang="en-US" sz="3000" b="1" dirty="0">
                <a:solidFill>
                  <a:srgbClr val="0B1B2C"/>
                </a:solidFill>
                <a:latin typeface="Avenir Next" pitchFamily="34" charset="0"/>
                <a:ea typeface="Avenir Next" pitchFamily="34" charset="-122"/>
                <a:cs typeface="Avenir Next" pitchFamily="34" charset="-120"/>
              </a:rPr>
              <a:t>Sources and project record</a:t>
            </a:r>
            <a:endParaRPr lang="en-US" sz="3000" dirty="0"/>
          </a:p>
        </p:txBody>
      </p:sp>
      <p:sp>
        <p:nvSpPr>
          <p:cNvPr id="3" name="Shape 1"/>
          <p:cNvSpPr/>
          <p:nvPr/>
        </p:nvSpPr>
        <p:spPr>
          <a:xfrm>
            <a:off x="585216" y="1091245"/>
            <a:ext cx="11009376" cy="12070"/>
          </a:xfrm>
          <a:prstGeom prst="rect">
            <a:avLst/>
          </a:prstGeom>
          <a:solidFill>
            <a:srgbClr val="C8D4DB"/>
          </a:solidFill>
          <a:ln w="12700">
            <a:solidFill>
              <a:srgbClr val="C8D4DB">
                <a:alpha val="0"/>
              </a:srgbClr>
            </a:solidFill>
            <a:prstDash val="solid"/>
          </a:ln>
        </p:spPr>
      </p:sp>
      <p:sp>
        <p:nvSpPr>
          <p:cNvPr id="4" name="Text 2"/>
          <p:cNvSpPr/>
          <p:nvPr/>
        </p:nvSpPr>
        <p:spPr>
          <a:xfrm>
            <a:off x="594360" y="6483096"/>
            <a:ext cx="8229600" cy="182880"/>
          </a:xfrm>
          <a:prstGeom prst="rect">
            <a:avLst/>
          </a:prstGeom>
          <a:noFill/>
          <a:ln/>
        </p:spPr>
        <p:txBody>
          <a:bodyPr wrap="square" lIns="0" tIns="0" rIns="0" bIns="0" rtlCol="0" anchor="ctr">
            <a:normAutofit/>
          </a:bodyPr>
          <a:lstStyle/>
          <a:p>
            <a:pPr indent="0" marL="0">
              <a:buNone/>
            </a:pPr>
            <a:r>
              <a:rPr lang="en-US" sz="1000" b="1" dirty="0">
                <a:solidFill>
                  <a:srgbClr val="526577"/>
                </a:solidFill>
                <a:latin typeface="Avenir Next" pitchFamily="34" charset="0"/>
                <a:ea typeface="Avenir Next" pitchFamily="34" charset="-122"/>
                <a:cs typeface="Avenir Next" pitchFamily="34" charset="-120"/>
              </a:rPr>
              <a:t>REFERENCES</a:t>
            </a:r>
            <a:endParaRPr lang="en-US" sz="1000" dirty="0"/>
          </a:p>
        </p:txBody>
      </p:sp>
      <p:sp>
        <p:nvSpPr>
          <p:cNvPr id="5" name="Text 3"/>
          <p:cNvSpPr/>
          <p:nvPr/>
        </p:nvSpPr>
        <p:spPr>
          <a:xfrm>
            <a:off x="11064240" y="6455664"/>
            <a:ext cx="502920" cy="201168"/>
          </a:xfrm>
          <a:prstGeom prst="rect">
            <a:avLst/>
          </a:prstGeom>
          <a:noFill/>
          <a:ln/>
        </p:spPr>
        <p:txBody>
          <a:bodyPr wrap="square" lIns="0" tIns="0" rIns="0" bIns="0" rtlCol="0" anchor="ctr">
            <a:normAutofit/>
          </a:bodyPr>
          <a:lstStyle/>
          <a:p>
            <a:pPr algn="r" indent="0" marL="0">
              <a:buNone/>
            </a:pPr>
            <a:r>
              <a:rPr lang="en-US" sz="1000" dirty="0">
                <a:solidFill>
                  <a:srgbClr val="526577"/>
                </a:solidFill>
                <a:latin typeface="Avenir Next" pitchFamily="34" charset="0"/>
                <a:ea typeface="Avenir Next" pitchFamily="34" charset="-122"/>
                <a:cs typeface="Avenir Next" pitchFamily="34" charset="-120"/>
              </a:rPr>
              <a:t>20</a:t>
            </a:r>
            <a:endParaRPr lang="en-US" sz="1000" dirty="0"/>
          </a:p>
        </p:txBody>
      </p:sp>
      <p:sp>
        <p:nvSpPr>
          <p:cNvPr id="6" name="Text 4"/>
          <p:cNvSpPr/>
          <p:nvPr/>
        </p:nvSpPr>
        <p:spPr>
          <a:xfrm>
            <a:off x="667512" y="1335024"/>
            <a:ext cx="2331720" cy="320040"/>
          </a:xfrm>
          <a:prstGeom prst="rect">
            <a:avLst/>
          </a:prstGeom>
          <a:noFill/>
          <a:ln/>
        </p:spPr>
        <p:txBody>
          <a:bodyPr wrap="square" lIns="0" tIns="0" rIns="0" bIns="0" rtlCol="0" anchor="ctr">
            <a:normAutofit/>
          </a:bodyPr>
          <a:lstStyle/>
          <a:p>
            <a:pPr indent="0" marL="0">
              <a:buNone/>
            </a:pPr>
            <a:r>
              <a:rPr lang="en-US" sz="1600" b="1" dirty="0">
                <a:solidFill>
                  <a:srgbClr val="0B1B2C"/>
                </a:solidFill>
                <a:latin typeface="Avenir Next" pitchFamily="34" charset="0"/>
                <a:ea typeface="Avenir Next" pitchFamily="34" charset="-122"/>
                <a:cs typeface="Avenir Next" pitchFamily="34" charset="-120"/>
              </a:rPr>
              <a:t>Project analysis</a:t>
            </a:r>
            <a:endParaRPr lang="en-US" sz="1600" dirty="0"/>
          </a:p>
        </p:txBody>
      </p:sp>
      <p:sp>
        <p:nvSpPr>
          <p:cNvPr id="7" name="Text 5"/>
          <p:cNvSpPr/>
          <p:nvPr/>
        </p:nvSpPr>
        <p:spPr>
          <a:xfrm>
            <a:off x="2999232" y="1335024"/>
            <a:ext cx="8046720" cy="320040"/>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Notebook and class report in the linked repository</a:t>
            </a:r>
            <a:endParaRPr lang="en-US" sz="1600" dirty="0"/>
          </a:p>
        </p:txBody>
      </p:sp>
      <p:sp>
        <p:nvSpPr>
          <p:cNvPr id="8" name="Shape 6"/>
          <p:cNvSpPr/>
          <p:nvPr/>
        </p:nvSpPr>
        <p:spPr>
          <a:xfrm>
            <a:off x="667512" y="1822856"/>
            <a:ext cx="10799064" cy="11887"/>
          </a:xfrm>
          <a:prstGeom prst="rect">
            <a:avLst/>
          </a:prstGeom>
          <a:solidFill>
            <a:srgbClr val="C8D4DB"/>
          </a:solidFill>
          <a:ln w="12700">
            <a:solidFill>
              <a:srgbClr val="C8D4DB">
                <a:alpha val="0"/>
              </a:srgbClr>
            </a:solidFill>
            <a:prstDash val="solid"/>
          </a:ln>
        </p:spPr>
      </p:sp>
      <p:sp>
        <p:nvSpPr>
          <p:cNvPr id="9" name="Text 7"/>
          <p:cNvSpPr/>
          <p:nvPr/>
        </p:nvSpPr>
        <p:spPr>
          <a:xfrm>
            <a:off x="667512" y="1993392"/>
            <a:ext cx="2331720" cy="320040"/>
          </a:xfrm>
          <a:prstGeom prst="rect">
            <a:avLst/>
          </a:prstGeom>
          <a:noFill/>
          <a:ln/>
        </p:spPr>
        <p:txBody>
          <a:bodyPr wrap="square" lIns="0" tIns="0" rIns="0" bIns="0" rtlCol="0" anchor="ctr">
            <a:normAutofit/>
          </a:bodyPr>
          <a:lstStyle/>
          <a:p>
            <a:pPr indent="0" marL="0">
              <a:buNone/>
            </a:pPr>
            <a:r>
              <a:rPr lang="en-US" sz="1600" b="1" dirty="0">
                <a:solidFill>
                  <a:srgbClr val="0B1B2C"/>
                </a:solidFill>
                <a:latin typeface="Avenir Next" pitchFamily="34" charset="0"/>
                <a:ea typeface="Avenir Next" pitchFamily="34" charset="-122"/>
                <a:cs typeface="Avenir Next" pitchFamily="34" charset="-120"/>
              </a:rPr>
              <a:t>SAML-D</a:t>
            </a:r>
            <a:endParaRPr lang="en-US" sz="1600" dirty="0"/>
          </a:p>
        </p:txBody>
      </p:sp>
      <p:sp>
        <p:nvSpPr>
          <p:cNvPr id="10" name="Text 8"/>
          <p:cNvSpPr/>
          <p:nvPr/>
        </p:nvSpPr>
        <p:spPr>
          <a:xfrm>
            <a:off x="2999232" y="1993392"/>
            <a:ext cx="8046720" cy="320040"/>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Author dataset repository and paper citation</a:t>
            </a:r>
            <a:endParaRPr lang="en-US" sz="1600" dirty="0"/>
          </a:p>
        </p:txBody>
      </p:sp>
      <p:sp>
        <p:nvSpPr>
          <p:cNvPr id="11" name="Shape 9"/>
          <p:cNvSpPr/>
          <p:nvPr/>
        </p:nvSpPr>
        <p:spPr>
          <a:xfrm>
            <a:off x="667512" y="2481224"/>
            <a:ext cx="10799064" cy="11887"/>
          </a:xfrm>
          <a:prstGeom prst="rect">
            <a:avLst/>
          </a:prstGeom>
          <a:solidFill>
            <a:srgbClr val="C8D4DB"/>
          </a:solidFill>
          <a:ln w="12700">
            <a:solidFill>
              <a:srgbClr val="C8D4DB">
                <a:alpha val="0"/>
              </a:srgbClr>
            </a:solidFill>
            <a:prstDash val="solid"/>
          </a:ln>
        </p:spPr>
      </p:sp>
      <p:sp>
        <p:nvSpPr>
          <p:cNvPr id="12" name="Text 10"/>
          <p:cNvSpPr/>
          <p:nvPr/>
        </p:nvSpPr>
        <p:spPr>
          <a:xfrm>
            <a:off x="667512" y="2651760"/>
            <a:ext cx="2331720" cy="320040"/>
          </a:xfrm>
          <a:prstGeom prst="rect">
            <a:avLst/>
          </a:prstGeom>
          <a:noFill/>
          <a:ln/>
        </p:spPr>
        <p:txBody>
          <a:bodyPr wrap="square" lIns="0" tIns="0" rIns="0" bIns="0" rtlCol="0" anchor="ctr">
            <a:normAutofit/>
          </a:bodyPr>
          <a:lstStyle/>
          <a:p>
            <a:pPr indent="0" marL="0">
              <a:buNone/>
            </a:pPr>
            <a:r>
              <a:rPr lang="en-US" sz="1600" b="1" dirty="0">
                <a:solidFill>
                  <a:srgbClr val="0B1B2C"/>
                </a:solidFill>
                <a:latin typeface="Avenir Next" pitchFamily="34" charset="0"/>
                <a:ea typeface="Avenir Next" pitchFamily="34" charset="-122"/>
                <a:cs typeface="Avenir Next" pitchFamily="34" charset="-120"/>
              </a:rPr>
              <a:t>FFIEC</a:t>
            </a:r>
            <a:endParaRPr lang="en-US" sz="1600" dirty="0"/>
          </a:p>
        </p:txBody>
      </p:sp>
      <p:sp>
        <p:nvSpPr>
          <p:cNvPr id="13" name="Text 11"/>
          <p:cNvSpPr/>
          <p:nvPr/>
        </p:nvSpPr>
        <p:spPr>
          <a:xfrm>
            <a:off x="2999232" y="2651760"/>
            <a:ext cx="8046720" cy="320040"/>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BSA/AML Examination Manual, Suspicious Activity Reporting</a:t>
            </a:r>
            <a:endParaRPr lang="en-US" sz="1600" dirty="0"/>
          </a:p>
        </p:txBody>
      </p:sp>
      <p:sp>
        <p:nvSpPr>
          <p:cNvPr id="14" name="Shape 12"/>
          <p:cNvSpPr/>
          <p:nvPr/>
        </p:nvSpPr>
        <p:spPr>
          <a:xfrm>
            <a:off x="667512" y="3139592"/>
            <a:ext cx="10799064" cy="11887"/>
          </a:xfrm>
          <a:prstGeom prst="rect">
            <a:avLst/>
          </a:prstGeom>
          <a:solidFill>
            <a:srgbClr val="C8D4DB"/>
          </a:solidFill>
          <a:ln w="12700">
            <a:solidFill>
              <a:srgbClr val="C8D4DB">
                <a:alpha val="0"/>
              </a:srgbClr>
            </a:solidFill>
            <a:prstDash val="solid"/>
          </a:ln>
        </p:spPr>
      </p:sp>
      <p:sp>
        <p:nvSpPr>
          <p:cNvPr id="15" name="Text 13"/>
          <p:cNvSpPr/>
          <p:nvPr/>
        </p:nvSpPr>
        <p:spPr>
          <a:xfrm>
            <a:off x="667512" y="3310128"/>
            <a:ext cx="2331720" cy="320040"/>
          </a:xfrm>
          <a:prstGeom prst="rect">
            <a:avLst/>
          </a:prstGeom>
          <a:noFill/>
          <a:ln/>
        </p:spPr>
        <p:txBody>
          <a:bodyPr wrap="square" lIns="0" tIns="0" rIns="0" bIns="0" rtlCol="0" anchor="ctr">
            <a:normAutofit/>
          </a:bodyPr>
          <a:lstStyle/>
          <a:p>
            <a:pPr indent="0" marL="0">
              <a:buNone/>
            </a:pPr>
            <a:r>
              <a:rPr lang="en-US" sz="1600" b="1" dirty="0">
                <a:solidFill>
                  <a:srgbClr val="0B1B2C"/>
                </a:solidFill>
                <a:latin typeface="Avenir Next" pitchFamily="34" charset="0"/>
                <a:ea typeface="Avenir Next" pitchFamily="34" charset="-122"/>
                <a:cs typeface="Avenir Next" pitchFamily="34" charset="-120"/>
              </a:rPr>
              <a:t>FinCEN + agencies</a:t>
            </a:r>
            <a:endParaRPr lang="en-US" sz="1600" dirty="0"/>
          </a:p>
        </p:txBody>
      </p:sp>
      <p:sp>
        <p:nvSpPr>
          <p:cNvPr id="16" name="Text 14"/>
          <p:cNvSpPr/>
          <p:nvPr/>
        </p:nvSpPr>
        <p:spPr>
          <a:xfrm>
            <a:off x="2999232" y="3310128"/>
            <a:ext cx="8046720" cy="320040"/>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Joint Statement on Innovative Efforts, 2018</a:t>
            </a:r>
            <a:endParaRPr lang="en-US" sz="1600" dirty="0"/>
          </a:p>
        </p:txBody>
      </p:sp>
      <p:sp>
        <p:nvSpPr>
          <p:cNvPr id="17" name="Shape 15"/>
          <p:cNvSpPr/>
          <p:nvPr/>
        </p:nvSpPr>
        <p:spPr>
          <a:xfrm>
            <a:off x="667512" y="3797960"/>
            <a:ext cx="10799064" cy="11887"/>
          </a:xfrm>
          <a:prstGeom prst="rect">
            <a:avLst/>
          </a:prstGeom>
          <a:solidFill>
            <a:srgbClr val="C8D4DB"/>
          </a:solidFill>
          <a:ln w="12700">
            <a:solidFill>
              <a:srgbClr val="C8D4DB">
                <a:alpha val="0"/>
              </a:srgbClr>
            </a:solidFill>
            <a:prstDash val="solid"/>
          </a:ln>
        </p:spPr>
      </p:sp>
      <p:sp>
        <p:nvSpPr>
          <p:cNvPr id="18" name="Text 16"/>
          <p:cNvSpPr/>
          <p:nvPr/>
        </p:nvSpPr>
        <p:spPr>
          <a:xfrm>
            <a:off x="667512" y="3968496"/>
            <a:ext cx="2331720" cy="320040"/>
          </a:xfrm>
          <a:prstGeom prst="rect">
            <a:avLst/>
          </a:prstGeom>
          <a:noFill/>
          <a:ln/>
        </p:spPr>
        <p:txBody>
          <a:bodyPr wrap="square" lIns="0" tIns="0" rIns="0" bIns="0" rtlCol="0" anchor="ctr">
            <a:normAutofit/>
          </a:bodyPr>
          <a:lstStyle/>
          <a:p>
            <a:pPr indent="0" marL="0">
              <a:buNone/>
            </a:pPr>
            <a:r>
              <a:rPr lang="en-US" sz="1600" b="1" dirty="0">
                <a:solidFill>
                  <a:srgbClr val="0B1B2C"/>
                </a:solidFill>
                <a:latin typeface="Avenir Next" pitchFamily="34" charset="0"/>
                <a:ea typeface="Avenir Next" pitchFamily="34" charset="-122"/>
                <a:cs typeface="Avenir Next" pitchFamily="34" charset="-120"/>
              </a:rPr>
              <a:t>FATF</a:t>
            </a:r>
            <a:endParaRPr lang="en-US" sz="1600" dirty="0"/>
          </a:p>
        </p:txBody>
      </p:sp>
      <p:sp>
        <p:nvSpPr>
          <p:cNvPr id="19" name="Text 17"/>
          <p:cNvSpPr/>
          <p:nvPr/>
        </p:nvSpPr>
        <p:spPr>
          <a:xfrm>
            <a:off x="2999232" y="3968496"/>
            <a:ext cx="8046720" cy="320040"/>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Digital Transformation of AML/CFT</a:t>
            </a:r>
            <a:endParaRPr lang="en-US" sz="1600" dirty="0"/>
          </a:p>
        </p:txBody>
      </p:sp>
      <p:sp>
        <p:nvSpPr>
          <p:cNvPr id="20" name="Shape 18"/>
          <p:cNvSpPr/>
          <p:nvPr/>
        </p:nvSpPr>
        <p:spPr>
          <a:xfrm>
            <a:off x="667512" y="4456328"/>
            <a:ext cx="10799064" cy="11887"/>
          </a:xfrm>
          <a:prstGeom prst="rect">
            <a:avLst/>
          </a:prstGeom>
          <a:solidFill>
            <a:srgbClr val="C8D4DB"/>
          </a:solidFill>
          <a:ln w="12700">
            <a:solidFill>
              <a:srgbClr val="C8D4DB">
                <a:alpha val="0"/>
              </a:srgbClr>
            </a:solidFill>
            <a:prstDash val="solid"/>
          </a:ln>
        </p:spPr>
      </p:sp>
      <p:sp>
        <p:nvSpPr>
          <p:cNvPr id="21" name="Text 19"/>
          <p:cNvSpPr/>
          <p:nvPr/>
        </p:nvSpPr>
        <p:spPr>
          <a:xfrm>
            <a:off x="667512" y="4626864"/>
            <a:ext cx="2331720" cy="320040"/>
          </a:xfrm>
          <a:prstGeom prst="rect">
            <a:avLst/>
          </a:prstGeom>
          <a:noFill/>
          <a:ln/>
        </p:spPr>
        <p:txBody>
          <a:bodyPr wrap="square" lIns="0" tIns="0" rIns="0" bIns="0" rtlCol="0" anchor="ctr">
            <a:normAutofit/>
          </a:bodyPr>
          <a:lstStyle/>
          <a:p>
            <a:pPr indent="0" marL="0">
              <a:buNone/>
            </a:pPr>
            <a:r>
              <a:rPr lang="en-US" sz="1600" b="1" dirty="0">
                <a:solidFill>
                  <a:srgbClr val="0B1B2C"/>
                </a:solidFill>
                <a:latin typeface="Avenir Next" pitchFamily="34" charset="0"/>
                <a:ea typeface="Avenir Next" pitchFamily="34" charset="-122"/>
                <a:cs typeface="Avenir Next" pitchFamily="34" charset="-120"/>
              </a:rPr>
              <a:t>Federal Reserve</a:t>
            </a:r>
            <a:endParaRPr lang="en-US" sz="1600" dirty="0"/>
          </a:p>
        </p:txBody>
      </p:sp>
      <p:sp>
        <p:nvSpPr>
          <p:cNvPr id="22" name="Text 20"/>
          <p:cNvSpPr/>
          <p:nvPr/>
        </p:nvSpPr>
        <p:spPr>
          <a:xfrm>
            <a:off x="2999232" y="4626864"/>
            <a:ext cx="8046720" cy="320040"/>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Current supervisory guidance on model risk management</a:t>
            </a:r>
            <a:endParaRPr lang="en-US" sz="1600" dirty="0"/>
          </a:p>
        </p:txBody>
      </p:sp>
      <p:sp>
        <p:nvSpPr>
          <p:cNvPr id="23" name="Shape 21"/>
          <p:cNvSpPr/>
          <p:nvPr/>
        </p:nvSpPr>
        <p:spPr>
          <a:xfrm>
            <a:off x="667512" y="5114696"/>
            <a:ext cx="10799064" cy="11887"/>
          </a:xfrm>
          <a:prstGeom prst="rect">
            <a:avLst/>
          </a:prstGeom>
          <a:solidFill>
            <a:srgbClr val="C8D4DB"/>
          </a:solidFill>
          <a:ln w="12700">
            <a:solidFill>
              <a:srgbClr val="C8D4DB">
                <a:alpha val="0"/>
              </a:srgbClr>
            </a:solidFill>
            <a:prstDash val="solid"/>
          </a:ln>
        </p:spPr>
      </p:sp>
      <p:sp>
        <p:nvSpPr>
          <p:cNvPr id="24" name="Text 22"/>
          <p:cNvSpPr/>
          <p:nvPr/>
        </p:nvSpPr>
        <p:spPr>
          <a:xfrm>
            <a:off x="667512" y="5285232"/>
            <a:ext cx="2331720" cy="320040"/>
          </a:xfrm>
          <a:prstGeom prst="rect">
            <a:avLst/>
          </a:prstGeom>
          <a:noFill/>
          <a:ln/>
        </p:spPr>
        <p:txBody>
          <a:bodyPr wrap="square" lIns="0" tIns="0" rIns="0" bIns="0" rtlCol="0" anchor="ctr">
            <a:normAutofit/>
          </a:bodyPr>
          <a:lstStyle/>
          <a:p>
            <a:pPr indent="0" marL="0">
              <a:buNone/>
            </a:pPr>
            <a:r>
              <a:rPr lang="en-US" sz="1600" b="1" dirty="0">
                <a:solidFill>
                  <a:srgbClr val="0B1B2C"/>
                </a:solidFill>
                <a:latin typeface="Avenir Next" pitchFamily="34" charset="0"/>
                <a:ea typeface="Avenir Next" pitchFamily="34" charset="-122"/>
                <a:cs typeface="Avenir Next" pitchFamily="34" charset="-120"/>
              </a:rPr>
              <a:t>BIS Innovation Hub</a:t>
            </a:r>
            <a:endParaRPr lang="en-US" sz="1600" dirty="0"/>
          </a:p>
        </p:txBody>
      </p:sp>
      <p:sp>
        <p:nvSpPr>
          <p:cNvPr id="25" name="Text 23"/>
          <p:cNvSpPr/>
          <p:nvPr/>
        </p:nvSpPr>
        <p:spPr>
          <a:xfrm>
            <a:off x="2999232" y="5285232"/>
            <a:ext cx="8046720" cy="320040"/>
          </a:xfrm>
          <a:prstGeom prst="rect">
            <a:avLst/>
          </a:prstGeom>
          <a:noFill/>
          <a:ln/>
        </p:spPr>
        <p:txBody>
          <a:bodyPr wrap="square" lIns="0" tIns="0" rIns="0" bIns="0" rtlCol="0" anchor="ctr">
            <a:normAutofit/>
          </a:bodyPr>
          <a:lstStyle/>
          <a:p>
            <a:pPr indent="0" marL="0">
              <a:buNone/>
            </a:pPr>
            <a:r>
              <a:rPr lang="en-US" sz="1600" dirty="0">
                <a:solidFill>
                  <a:srgbClr val="162536"/>
                </a:solidFill>
                <a:latin typeface="Avenir Next" pitchFamily="34" charset="0"/>
                <a:ea typeface="Avenir Next" pitchFamily="34" charset="-122"/>
                <a:cs typeface="Avenir Next" pitchFamily="34" charset="-120"/>
              </a:rPr>
              <a:t>Project Aurora, network and ML research</a:t>
            </a:r>
            <a:endParaRPr lang="en-US" sz="1600" dirty="0"/>
          </a:p>
        </p:txBody>
      </p:sp>
      <p:sp>
        <p:nvSpPr>
          <p:cNvPr id="26" name="Shape 24"/>
          <p:cNvSpPr/>
          <p:nvPr/>
        </p:nvSpPr>
        <p:spPr>
          <a:xfrm>
            <a:off x="667512" y="5773064"/>
            <a:ext cx="10799064" cy="11887"/>
          </a:xfrm>
          <a:prstGeom prst="rect">
            <a:avLst/>
          </a:prstGeom>
          <a:solidFill>
            <a:srgbClr val="C8D4DB"/>
          </a:solidFill>
          <a:ln w="12700">
            <a:solidFill>
              <a:srgbClr val="C8D4DB">
                <a:alpha val="0"/>
              </a:srgbClr>
            </a:solidFill>
            <a:prstDash val="solid"/>
          </a:ln>
        </p:spPr>
      </p:sp>
      <p:sp>
        <p:nvSpPr>
          <p:cNvPr id="27" name="Text 25"/>
          <p:cNvSpPr/>
          <p:nvPr/>
        </p:nvSpPr>
        <p:spPr>
          <a:xfrm>
            <a:off x="667512" y="6236208"/>
            <a:ext cx="10515600" cy="274320"/>
          </a:xfrm>
          <a:prstGeom prst="rect">
            <a:avLst/>
          </a:prstGeom>
          <a:noFill/>
          <a:ln/>
        </p:spPr>
        <p:txBody>
          <a:bodyPr wrap="square" lIns="0" tIns="0" rIns="0" bIns="0" rtlCol="0" anchor="ctr">
            <a:normAutofit/>
          </a:bodyPr>
          <a:lstStyle/>
          <a:p>
            <a:pPr indent="0" marL="0">
              <a:buNone/>
            </a:pPr>
            <a:r>
              <a:rPr lang="en-US" sz="1400" dirty="0">
                <a:solidFill>
                  <a:srgbClr val="526577"/>
                </a:solidFill>
                <a:latin typeface="Avenir Next" pitchFamily="34" charset="0"/>
                <a:ea typeface="Avenir Next" pitchFamily="34" charset="-122"/>
                <a:cs typeface="Avenir Next" pitchFamily="34" charset="-120"/>
              </a:rPr>
              <a:t>Industry patterns are illustrative. All performance figures are from this synthetic class experiment.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Class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AML Transaction Monitoring</dc:title>
  <dc:subject>SAML-D AML transaction monitoring model architecture and results</dc:subject>
  <dc:creator>Explainable AML Transaction Monitoring</dc:creator>
  <cp:lastModifiedBy>Explainable AML Transaction Monitoring</cp:lastModifiedBy>
  <cp:revision>1</cp:revision>
  <dcterms:created xsi:type="dcterms:W3CDTF">2026-10-16T00:06:50Z</dcterms:created>
  <dcterms:modified xsi:type="dcterms:W3CDTF">2026-10-16T00:06:50Z</dcterms:modified>
</cp:coreProperties>
</file>